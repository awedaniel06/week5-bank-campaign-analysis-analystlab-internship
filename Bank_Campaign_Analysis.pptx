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Subscribers</c:v>
                </c:pt>
              </c:strCache>
            </c:strRef>
          </c:tx>
          <c:spPr>
            <a:solidFill>
              <a:srgbClr val="1F4A2C"/>
            </a:solidFill>
            <a:effectLst/>
          </c:spPr>
          <c:invertIfNegative val="0"/>
          <c:dLbls>
            <c:numFmt formatCode="#,##0" sourceLinked="0"/>
            <c:txPr>
              <a:bodyPr/>
              <a:lstStyle/>
              <a:p>
                <a:pPr>
                  <a:defRPr b="0" i="0" strike="noStrike" sz="800" u="none">
                    <a:solidFill>
                      <a:srgbClr val="1E2A22"/>
                    </a:solidFill>
                    <a:latin typeface="Arial"/>
                  </a:defRPr>
                </a:pPr>
              </a:p>
            </c:txPr>
            <c:showLegendKey val="0"/>
            <c:showVal val="1"/>
            <c:showCatName val="0"/>
            <c:showSerName val="0"/>
            <c:showPercent val="0"/>
            <c:showBubbleSize val="0"/>
            <c:showLeaderLines val="0"/>
          </c:dLbls>
          <c:cat>
            <c:multiLvlStrRef>
              <c:f>Sheet1!$A$2:$A$7</c:f>
              <c:multiLvlStrCache>
                <c:ptCount val="6"/>
                <c:lvl>
                  <c:pt idx="0">
                    <c:v>Management</c:v>
                  </c:pt>
                  <c:pt idx="1">
                    <c:v>Technician</c:v>
                  </c:pt>
                  <c:pt idx="2">
                    <c:v>Blue-Collar</c:v>
                  </c:pt>
                  <c:pt idx="3">
                    <c:v>Admin.</c:v>
                  </c:pt>
                  <c:pt idx="4">
                    <c:v>Retired</c:v>
                  </c:pt>
                  <c:pt idx="5">
                    <c:v>Services</c:v>
                  </c:pt>
                </c:lvl>
              </c:multiLvlStrCache>
            </c:multiLvlStrRef>
          </c:cat>
          <c:val>
            <c:numRef>
              <c:f>Sheet1!$B$2:$B$7</c:f>
              <c:numCache>
                <c:formatCode>General</c:formatCode>
                <c:ptCount val="6"/>
                <c:pt idx="0">
                  <c:v>24.6</c:v>
                </c:pt>
                <c:pt idx="1">
                  <c:v>15.88</c:v>
                </c:pt>
                <c:pt idx="2">
                  <c:v>13.39</c:v>
                </c:pt>
                <c:pt idx="3">
                  <c:v>11.93</c:v>
                </c:pt>
                <c:pt idx="4">
                  <c:v>9.76</c:v>
                </c:pt>
                <c:pt idx="5">
                  <c:v>6.98</c:v>
                </c:pt>
              </c:numCache>
            </c:numRef>
          </c:val>
        </c:ser>
        <c:ser>
          <c:idx val="1"/>
          <c:order val="1"/>
          <c:tx>
            <c:strRef>
              <c:f>Sheet1!$C$1</c:f>
              <c:strCache>
                <c:ptCount val="1"/>
                <c:pt idx="0">
                  <c:v>Non-Subscribers</c:v>
                </c:pt>
              </c:strCache>
            </c:strRef>
          </c:tx>
          <c:spPr>
            <a:solidFill>
              <a:srgbClr val="B8C4B0"/>
            </a:solidFill>
            <a:effectLst/>
          </c:spPr>
          <c:invertIfNegative val="0"/>
          <c:dLbls>
            <c:numFmt formatCode="#,##0" sourceLinked="0"/>
            <c:txPr>
              <a:bodyPr/>
              <a:lstStyle/>
              <a:p>
                <a:pPr>
                  <a:defRPr b="0" i="0" strike="noStrike" sz="800" u="none">
                    <a:solidFill>
                      <a:srgbClr val="1E2A22"/>
                    </a:solidFill>
                    <a:latin typeface="Arial"/>
                  </a:defRPr>
                </a:pPr>
              </a:p>
            </c:txPr>
            <c:showLegendKey val="0"/>
            <c:showVal val="1"/>
            <c:showCatName val="0"/>
            <c:showSerName val="0"/>
            <c:showPercent val="0"/>
            <c:showBubbleSize val="0"/>
            <c:showLeaderLines val="0"/>
          </c:dLbls>
          <c:cat>
            <c:multiLvlStrRef>
              <c:f>Sheet1!$A$2:$A$7</c:f>
              <c:multiLvlStrCache>
                <c:ptCount val="6"/>
                <c:lvl>
                  <c:pt idx="0">
                    <c:v>Management</c:v>
                  </c:pt>
                  <c:pt idx="1">
                    <c:v>Technician</c:v>
                  </c:pt>
                  <c:pt idx="2">
                    <c:v>Blue-Collar</c:v>
                  </c:pt>
                  <c:pt idx="3">
                    <c:v>Admin.</c:v>
                  </c:pt>
                  <c:pt idx="4">
                    <c:v>Retired</c:v>
                  </c:pt>
                  <c:pt idx="5">
                    <c:v>Services</c:v>
                  </c:pt>
                </c:lvl>
              </c:multiLvlStrCache>
            </c:multiLvlStrRef>
          </c:cat>
          <c:val>
            <c:numRef>
              <c:f>Sheet1!$C$2:$C$7</c:f>
              <c:numCache>
                <c:formatCode>General</c:formatCode>
                <c:ptCount val="6"/>
                <c:pt idx="0">
                  <c:v>21.54</c:v>
                </c:pt>
                <c:pt idx="1">
                  <c:v>16.74</c:v>
                </c:pt>
                <c:pt idx="2">
                  <c:v>21.05</c:v>
                </c:pt>
                <c:pt idx="3">
                  <c:v>11.97</c:v>
                </c:pt>
                <c:pt idx="4">
                  <c:v>4.46</c:v>
                </c:pt>
                <c:pt idx="5">
                  <c:v>9.43</c:v>
                </c:pt>
              </c:numCache>
            </c:numRef>
          </c:val>
        </c:ser>
        <c:dLbls>
          <c:numFmt formatCode="#,##0" sourceLinked="0"/>
          <c:txPr>
            <a:bodyPr/>
            <a:lstStyle/>
            <a:p>
              <a:pPr>
                <a:defRPr b="0" i="0" strike="noStrike" sz="800" u="none">
                  <a:solidFill>
                    <a:srgbClr val="1E2A22"/>
                  </a:solidFill>
                  <a:latin typeface="Arial"/>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A7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8EBE5"/>
              </a:solidFill>
              <a:prstDash val="solid"/>
              <a:round/>
            </a:ln>
          </c:spPr>
        </c:majorGridlines>
        <c:title>
          <c:tx>
            <c:rich>
              <a:bodyPr/>
              <a:lstStyle/>
              <a:p>
                <a:pPr>
                  <a:defRPr sz="1000" b="0" i="0" u="none" strike="noStrike">
                    <a:solidFill>
                      <a:srgbClr val="6B7A70"/>
                    </a:solidFill>
                    <a:latin typeface="Arial"/>
                  </a:defRPr>
                </a:pPr>
                <a:r>
                  <a:rPr sz="1000" b="0" i="0" u="none" strike="noStrike">
                    <a:solidFill>
                      <a:srgbClr val="6B7A70"/>
                    </a:solidFill>
                    <a:latin typeface="Arial"/>
                  </a:rPr>
                  <a:t>% of group</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7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E2A22"/>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Subscribers</c:v>
                </c:pt>
              </c:strCache>
            </c:strRef>
          </c:tx>
          <c:spPr>
            <a:solidFill>
              <a:schemeClr val="accent1"/>
            </a:solidFill>
            <a:ln w="9525" cap="flat">
              <a:solidFill>
                <a:srgbClr val="F9F9F9"/>
              </a:solidFill>
              <a:prstDash val="solid"/>
              <a:round/>
            </a:ln>
            <a:effectLst/>
          </c:spPr>
          <c:dPt>
            <c:idx val="0"/>
            <c:bubble3D val="0"/>
            <c:spPr>
              <a:solidFill>
                <a:srgbClr val="1F4A2C"/>
              </a:solidFill>
              <a:effectLst/>
            </c:spPr>
          </c:dPt>
          <c:dPt>
            <c:idx val="1"/>
            <c:bubble3D val="0"/>
            <c:spPr>
              <a:solidFill>
                <a:srgbClr val="C7D2BE"/>
              </a:solidFill>
              <a:effectLst/>
            </c:spPr>
          </c:dPt>
          <c:dPt>
            <c:idx val="2"/>
            <c:bubble3D val="0"/>
            <c:spPr>
              <a:solidFill>
                <a:srgbClr val="8FA684"/>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Cellular</c:v>
                </c:pt>
                <c:pt idx="1">
                  <c:v>Unknown</c:v>
                </c:pt>
                <c:pt idx="2">
                  <c:v>Telephone</c:v>
                </c:pt>
              </c:strCache>
            </c:strRef>
          </c:cat>
          <c:val>
            <c:numRef>
              <c:f>Sheet1!$B$2:$B$4</c:f>
              <c:numCache>
                <c:ptCount val="3"/>
                <c:pt idx="0">
                  <c:v>82.6</c:v>
                </c:pt>
                <c:pt idx="1">
                  <c:v>10</c:v>
                </c:pt>
                <c:pt idx="2">
                  <c:v>7.4</c:v>
                </c:pt>
              </c:numCache>
            </c:numRef>
          </c:val>
        </c:ser>
        <c:firstSliceAng val="0"/>
        <c:holeSize val="55"/>
      </c:doughnutChart>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Non-Subscribers</c:v>
                </c:pt>
              </c:strCache>
            </c:strRef>
          </c:tx>
          <c:spPr>
            <a:solidFill>
              <a:schemeClr val="accent1"/>
            </a:solidFill>
            <a:ln w="9525" cap="flat">
              <a:solidFill>
                <a:srgbClr val="F9F9F9"/>
              </a:solidFill>
              <a:prstDash val="solid"/>
              <a:round/>
            </a:ln>
            <a:effectLst/>
          </c:spPr>
          <c:dPt>
            <c:idx val="0"/>
            <c:bubble3D val="0"/>
            <c:spPr>
              <a:solidFill>
                <a:srgbClr val="7A8D71"/>
              </a:solidFill>
              <a:effectLst/>
            </c:spPr>
          </c:dPt>
          <c:dPt>
            <c:idx val="1"/>
            <c:bubble3D val="0"/>
            <c:spPr>
              <a:solidFill>
                <a:srgbClr val="C7D2BE"/>
              </a:solidFill>
              <a:effectLst/>
            </c:spPr>
          </c:dPt>
          <c:dPt>
            <c:idx val="2"/>
            <c:bubble3D val="0"/>
            <c:spPr>
              <a:solidFill>
                <a:srgbClr val="3C4A35"/>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Cellular</c:v>
                </c:pt>
                <c:pt idx="1">
                  <c:v>Unknown</c:v>
                </c:pt>
                <c:pt idx="2">
                  <c:v>Telephone</c:v>
                </c:pt>
              </c:strCache>
            </c:strRef>
          </c:cat>
          <c:val>
            <c:numRef>
              <c:f>Sheet1!$B$2:$B$4</c:f>
              <c:numCache>
                <c:ptCount val="3"/>
                <c:pt idx="0">
                  <c:v>62.54</c:v>
                </c:pt>
                <c:pt idx="1">
                  <c:v>30.92</c:v>
                </c:pt>
                <c:pt idx="2">
                  <c:v>6.54</c:v>
                </c:pt>
              </c:numCache>
            </c:numRef>
          </c:val>
        </c:ser>
        <c:firstSliceAng val="0"/>
        <c:holeSize val="55"/>
      </c:doughnutChart>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image" Target="../media/image-5-1.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A2C"/>
        </a:solidFill>
      </p:bgPr>
    </p:bg>
    <p:spTree>
      <p:nvGrpSpPr>
        <p:cNvPr id="1" name=""/>
        <p:cNvGrpSpPr/>
        <p:nvPr/>
      </p:nvGrpSpPr>
      <p:grpSpPr>
        <a:xfrm>
          <a:off x="0" y="0"/>
          <a:ext cx="0" cy="0"/>
          <a:chOff x="0" y="0"/>
          <a:chExt cx="0" cy="0"/>
        </a:xfrm>
      </p:grpSpPr>
      <p:sp>
        <p:nvSpPr>
          <p:cNvPr id="2" name="Shape 0"/>
          <p:cNvSpPr/>
          <p:nvPr/>
        </p:nvSpPr>
        <p:spPr>
          <a:xfrm>
            <a:off x="9418320" y="-1463040"/>
            <a:ext cx="5029200" cy="5029200"/>
          </a:xfrm>
          <a:prstGeom prst="ellipse">
            <a:avLst/>
          </a:prstGeom>
          <a:solidFill>
            <a:srgbClr val="5C8A54">
              <a:alpha val="22000"/>
            </a:srgbClr>
          </a:solidFill>
          <a:ln/>
        </p:spPr>
      </p:sp>
      <p:sp>
        <p:nvSpPr>
          <p:cNvPr id="3" name="Shape 1"/>
          <p:cNvSpPr/>
          <p:nvPr/>
        </p:nvSpPr>
        <p:spPr>
          <a:xfrm>
            <a:off x="-1645920" y="4389120"/>
            <a:ext cx="4114800" cy="4114800"/>
          </a:xfrm>
          <a:prstGeom prst="ellipse">
            <a:avLst/>
          </a:prstGeom>
          <a:solidFill>
            <a:srgbClr val="97BC62">
              <a:alpha val="15000"/>
            </a:srgbClr>
          </a:solidFill>
          <a:ln/>
        </p:spPr>
      </p:sp>
      <p:sp>
        <p:nvSpPr>
          <p:cNvPr id="4" name="Text 2"/>
          <p:cNvSpPr/>
          <p:nvPr/>
        </p:nvSpPr>
        <p:spPr>
          <a:xfrm>
            <a:off x="822960" y="1965960"/>
            <a:ext cx="9144000" cy="365760"/>
          </a:xfrm>
          <a:prstGeom prst="rect">
            <a:avLst/>
          </a:prstGeom>
          <a:noFill/>
          <a:ln/>
        </p:spPr>
        <p:txBody>
          <a:bodyPr wrap="square" rtlCol="0" anchor="ctr"/>
          <a:lstStyle/>
          <a:p>
            <a:pPr indent="0" marL="0">
              <a:buNone/>
            </a:pPr>
            <a:r>
              <a:rPr lang="en-US" sz="1400" b="1" spc="300" kern="0" dirty="0">
                <a:solidFill>
                  <a:srgbClr val="97BC62"/>
                </a:solidFill>
                <a:latin typeface="Calibri" pitchFamily="34" charset="0"/>
                <a:ea typeface="Calibri" pitchFamily="34" charset="-122"/>
                <a:cs typeface="Calibri" pitchFamily="34" charset="-120"/>
              </a:rPr>
              <a:t>BANK TERM DEPOSIT CAMPAIGN</a:t>
            </a:r>
            <a:endParaRPr lang="en-US" sz="1400" dirty="0"/>
          </a:p>
        </p:txBody>
      </p:sp>
      <p:sp>
        <p:nvSpPr>
          <p:cNvPr id="5" name="Text 3"/>
          <p:cNvSpPr/>
          <p:nvPr/>
        </p:nvSpPr>
        <p:spPr>
          <a:xfrm>
            <a:off x="822960" y="2331720"/>
            <a:ext cx="10058400" cy="100584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Subscribers vs. Non-Subscribers</a:t>
            </a:r>
            <a:endParaRPr lang="en-US" sz="4200" dirty="0"/>
          </a:p>
        </p:txBody>
      </p:sp>
      <p:sp>
        <p:nvSpPr>
          <p:cNvPr id="6" name="Text 4"/>
          <p:cNvSpPr/>
          <p:nvPr/>
        </p:nvSpPr>
        <p:spPr>
          <a:xfrm>
            <a:off x="822960" y="3337560"/>
            <a:ext cx="8686800" cy="640080"/>
          </a:xfrm>
          <a:prstGeom prst="rect">
            <a:avLst/>
          </a:prstGeom>
          <a:noFill/>
          <a:ln/>
        </p:spPr>
        <p:txBody>
          <a:bodyPr wrap="square" rtlCol="0" anchor="ctr"/>
          <a:lstStyle/>
          <a:p>
            <a:pPr indent="0" marL="0">
              <a:buNone/>
            </a:pPr>
            <a:r>
              <a:rPr lang="en-US" sz="1500" dirty="0">
                <a:solidFill>
                  <a:srgbClr val="D9E4D3"/>
                </a:solidFill>
                <a:latin typeface="Calibri" pitchFamily="34" charset="0"/>
                <a:ea typeface="Calibri" pitchFamily="34" charset="-122"/>
                <a:cs typeface="Calibri" pitchFamily="34" charset="-120"/>
              </a:rPr>
              <a:t>A comparative analysis of 11,162 client contacts to uncover what drives term deposit subscription</a:t>
            </a:r>
            <a:endParaRPr lang="en-US" sz="1500" dirty="0"/>
          </a:p>
        </p:txBody>
      </p:sp>
      <p:sp>
        <p:nvSpPr>
          <p:cNvPr id="7" name="Text 5"/>
          <p:cNvSpPr/>
          <p:nvPr/>
        </p:nvSpPr>
        <p:spPr>
          <a:xfrm>
            <a:off x="822960" y="4343400"/>
            <a:ext cx="237744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11,162</a:t>
            </a:r>
            <a:endParaRPr lang="en-US" sz="2600" dirty="0"/>
          </a:p>
        </p:txBody>
      </p:sp>
      <p:sp>
        <p:nvSpPr>
          <p:cNvPr id="8" name="Text 6"/>
          <p:cNvSpPr/>
          <p:nvPr/>
        </p:nvSpPr>
        <p:spPr>
          <a:xfrm>
            <a:off x="822960" y="4864608"/>
            <a:ext cx="2377440" cy="365760"/>
          </a:xfrm>
          <a:prstGeom prst="rect">
            <a:avLst/>
          </a:prstGeom>
          <a:noFill/>
          <a:ln/>
        </p:spPr>
        <p:txBody>
          <a:bodyPr wrap="square" rtlCol="0" anchor="ctr"/>
          <a:lstStyle/>
          <a:p>
            <a:pPr indent="0" marL="0">
              <a:buNone/>
            </a:pPr>
            <a:r>
              <a:rPr lang="en-US" sz="1100" dirty="0">
                <a:solidFill>
                  <a:srgbClr val="B9CCB0"/>
                </a:solidFill>
                <a:latin typeface="Calibri" pitchFamily="34" charset="0"/>
                <a:ea typeface="Calibri" pitchFamily="34" charset="-122"/>
                <a:cs typeface="Calibri" pitchFamily="34" charset="-120"/>
              </a:rPr>
              <a:t>Total Contacts</a:t>
            </a:r>
            <a:endParaRPr lang="en-US" sz="1100" dirty="0"/>
          </a:p>
        </p:txBody>
      </p:sp>
      <p:sp>
        <p:nvSpPr>
          <p:cNvPr id="9" name="Text 7"/>
          <p:cNvSpPr/>
          <p:nvPr/>
        </p:nvSpPr>
        <p:spPr>
          <a:xfrm>
            <a:off x="3474720" y="4343400"/>
            <a:ext cx="237744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47.38%</a:t>
            </a:r>
            <a:endParaRPr lang="en-US" sz="2600" dirty="0"/>
          </a:p>
        </p:txBody>
      </p:sp>
      <p:sp>
        <p:nvSpPr>
          <p:cNvPr id="10" name="Text 8"/>
          <p:cNvSpPr/>
          <p:nvPr/>
        </p:nvSpPr>
        <p:spPr>
          <a:xfrm>
            <a:off x="3474720" y="4864608"/>
            <a:ext cx="2377440" cy="365760"/>
          </a:xfrm>
          <a:prstGeom prst="rect">
            <a:avLst/>
          </a:prstGeom>
          <a:noFill/>
          <a:ln/>
        </p:spPr>
        <p:txBody>
          <a:bodyPr wrap="square" rtlCol="0" anchor="ctr"/>
          <a:lstStyle/>
          <a:p>
            <a:pPr indent="0" marL="0">
              <a:buNone/>
            </a:pPr>
            <a:r>
              <a:rPr lang="en-US" sz="1100" dirty="0">
                <a:solidFill>
                  <a:srgbClr val="B9CCB0"/>
                </a:solidFill>
                <a:latin typeface="Calibri" pitchFamily="34" charset="0"/>
                <a:ea typeface="Calibri" pitchFamily="34" charset="-122"/>
                <a:cs typeface="Calibri" pitchFamily="34" charset="-120"/>
              </a:rPr>
              <a:t>Subscriber Conv. Rate</a:t>
            </a:r>
            <a:endParaRPr lang="en-US" sz="1100" dirty="0"/>
          </a:p>
        </p:txBody>
      </p:sp>
      <p:sp>
        <p:nvSpPr>
          <p:cNvPr id="11" name="Text 9"/>
          <p:cNvSpPr/>
          <p:nvPr/>
        </p:nvSpPr>
        <p:spPr>
          <a:xfrm>
            <a:off x="6126480" y="4343400"/>
            <a:ext cx="237744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5,289</a:t>
            </a:r>
            <a:endParaRPr lang="en-US" sz="2600" dirty="0"/>
          </a:p>
        </p:txBody>
      </p:sp>
      <p:sp>
        <p:nvSpPr>
          <p:cNvPr id="12" name="Text 10"/>
          <p:cNvSpPr/>
          <p:nvPr/>
        </p:nvSpPr>
        <p:spPr>
          <a:xfrm>
            <a:off x="6126480" y="4864608"/>
            <a:ext cx="2377440" cy="365760"/>
          </a:xfrm>
          <a:prstGeom prst="rect">
            <a:avLst/>
          </a:prstGeom>
          <a:noFill/>
          <a:ln/>
        </p:spPr>
        <p:txBody>
          <a:bodyPr wrap="square" rtlCol="0" anchor="ctr"/>
          <a:lstStyle/>
          <a:p>
            <a:pPr indent="0" marL="0">
              <a:buNone/>
            </a:pPr>
            <a:r>
              <a:rPr lang="en-US" sz="1100" dirty="0">
                <a:solidFill>
                  <a:srgbClr val="B9CCB0"/>
                </a:solidFill>
                <a:latin typeface="Calibri" pitchFamily="34" charset="0"/>
                <a:ea typeface="Calibri" pitchFamily="34" charset="-122"/>
                <a:cs typeface="Calibri" pitchFamily="34" charset="-120"/>
              </a:rPr>
              <a:t>Subscribers</a:t>
            </a:r>
            <a:endParaRPr lang="en-US" sz="1100" dirty="0"/>
          </a:p>
        </p:txBody>
      </p:sp>
      <p:sp>
        <p:nvSpPr>
          <p:cNvPr id="13" name="Text 11"/>
          <p:cNvSpPr/>
          <p:nvPr/>
        </p:nvSpPr>
        <p:spPr>
          <a:xfrm>
            <a:off x="822960" y="6172200"/>
            <a:ext cx="7315200" cy="320040"/>
          </a:xfrm>
          <a:prstGeom prst="rect">
            <a:avLst/>
          </a:prstGeom>
          <a:noFill/>
          <a:ln/>
        </p:spPr>
        <p:txBody>
          <a:bodyPr wrap="square" rtlCol="0" anchor="ctr"/>
          <a:lstStyle/>
          <a:p>
            <a:pPr indent="0" marL="0">
              <a:buNone/>
            </a:pPr>
            <a:r>
              <a:rPr lang="en-US" sz="1100" i="1" dirty="0">
                <a:solidFill>
                  <a:srgbClr val="9DB596"/>
                </a:solidFill>
                <a:latin typeface="Calibri" pitchFamily="34" charset="0"/>
                <a:ea typeface="Calibri" pitchFamily="34" charset="-122"/>
                <a:cs typeface="Calibri" pitchFamily="34" charset="-120"/>
              </a:rPr>
              <a:t>Prepared for Marketing &amp; Analytics Review</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5C8A54"/>
                </a:solidFill>
                <a:latin typeface="Calibri" pitchFamily="34" charset="0"/>
                <a:ea typeface="Calibri" pitchFamily="34" charset="-122"/>
                <a:cs typeface="Calibri" pitchFamily="34" charset="-120"/>
              </a:rPr>
              <a:t>01  ·  DATASET OVERVIEW</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1E2A22"/>
                </a:solidFill>
                <a:latin typeface="Cambria" pitchFamily="34" charset="0"/>
                <a:ea typeface="Cambria" pitchFamily="34" charset="-122"/>
                <a:cs typeface="Cambria" pitchFamily="34" charset="-120"/>
              </a:rPr>
              <a:t>What We're Looking At</a:t>
            </a:r>
            <a:endParaRPr lang="en-US" sz="3000" dirty="0"/>
          </a:p>
        </p:txBody>
      </p:sp>
      <p:sp>
        <p:nvSpPr>
          <p:cNvPr id="4" name="Text 2"/>
          <p:cNvSpPr/>
          <p:nvPr/>
        </p:nvSpPr>
        <p:spPr>
          <a:xfrm>
            <a:off x="548640" y="1417320"/>
            <a:ext cx="6126480" cy="1371600"/>
          </a:xfrm>
          <a:prstGeom prst="rect">
            <a:avLst/>
          </a:prstGeom>
          <a:noFill/>
          <a:ln/>
        </p:spPr>
        <p:txBody>
          <a:bodyPr wrap="square" rtlCol="0" anchor="ctr"/>
          <a:lstStyle/>
          <a:p>
            <a:pPr indent="0" marL="0">
              <a:lnSpc>
                <a:spcPct val="125000"/>
              </a:lnSpc>
              <a:buNone/>
            </a:pPr>
            <a:r>
              <a:rPr lang="en-US" sz="1350" dirty="0">
                <a:solidFill>
                  <a:srgbClr val="1E2A22"/>
                </a:solidFill>
                <a:latin typeface="Calibri" pitchFamily="34" charset="0"/>
                <a:ea typeface="Calibri" pitchFamily="34" charset="-122"/>
                <a:cs typeface="Calibri" pitchFamily="34" charset="-120"/>
              </a:rPr>
              <a:t>The dataset captures 11,162 outbound calls from a bank's term-deposit marketing campaign, split into two dashboards: clients who subscribed and clients who declined. Each record includes call duration, demographics, financial indicators, and contact history.</a:t>
            </a:r>
            <a:endParaRPr lang="en-US" sz="1350" dirty="0"/>
          </a:p>
        </p:txBody>
      </p:sp>
      <p:pic>
        <p:nvPicPr>
          <p:cNvPr id="5" name="Image 0" descr="preencoded.png">    </p:cNvPr>
          <p:cNvPicPr>
            <a:picLocks noChangeAspect="1"/>
          </p:cNvPicPr>
          <p:nvPr/>
        </p:nvPicPr>
        <p:blipFill>
          <a:blip r:embed="rId1"/>
          <a:stretch>
            <a:fillRect/>
          </a:stretch>
        </p:blipFill>
        <p:spPr>
          <a:xfrm>
            <a:off x="548640" y="2880360"/>
            <a:ext cx="201168" cy="201168"/>
          </a:xfrm>
          <a:prstGeom prst="rect">
            <a:avLst/>
          </a:prstGeom>
        </p:spPr>
      </p:pic>
      <p:sp>
        <p:nvSpPr>
          <p:cNvPr id="6" name="Text 3"/>
          <p:cNvSpPr/>
          <p:nvPr/>
        </p:nvSpPr>
        <p:spPr>
          <a:xfrm>
            <a:off x="868680" y="2807208"/>
            <a:ext cx="5852160" cy="365760"/>
          </a:xfrm>
          <a:prstGeom prst="rect">
            <a:avLst/>
          </a:prstGeom>
          <a:noFill/>
          <a:ln/>
        </p:spPr>
        <p:txBody>
          <a:bodyPr wrap="square" rtlCol="0" anchor="ctr"/>
          <a:lstStyle/>
          <a:p>
            <a:pPr indent="0" marL="0">
              <a:buNone/>
            </a:pPr>
            <a:r>
              <a:rPr lang="en-US" sz="1200" dirty="0">
                <a:solidFill>
                  <a:srgbClr val="1E2A22"/>
                </a:solidFill>
                <a:latin typeface="Calibri" pitchFamily="34" charset="0"/>
                <a:ea typeface="Calibri" pitchFamily="34" charset="-122"/>
                <a:cs typeface="Calibri" pitchFamily="34" charset="-120"/>
              </a:rPr>
              <a:t>Call duration &amp; contact channel (cellular / telephone / unknown)</a:t>
            </a:r>
            <a:endParaRPr lang="en-US" sz="1200" dirty="0"/>
          </a:p>
        </p:txBody>
      </p:sp>
      <p:pic>
        <p:nvPicPr>
          <p:cNvPr id="7" name="Image 1" descr="preencoded.png">    </p:cNvPr>
          <p:cNvPicPr>
            <a:picLocks noChangeAspect="1"/>
          </p:cNvPicPr>
          <p:nvPr/>
        </p:nvPicPr>
        <p:blipFill>
          <a:blip r:embed="rId2"/>
          <a:stretch>
            <a:fillRect/>
          </a:stretch>
        </p:blipFill>
        <p:spPr>
          <a:xfrm>
            <a:off x="548640" y="3300984"/>
            <a:ext cx="201168" cy="201168"/>
          </a:xfrm>
          <a:prstGeom prst="rect">
            <a:avLst/>
          </a:prstGeom>
        </p:spPr>
      </p:pic>
      <p:sp>
        <p:nvSpPr>
          <p:cNvPr id="8" name="Text 4"/>
          <p:cNvSpPr/>
          <p:nvPr/>
        </p:nvSpPr>
        <p:spPr>
          <a:xfrm>
            <a:off x="868680" y="3227832"/>
            <a:ext cx="5852160" cy="365760"/>
          </a:xfrm>
          <a:prstGeom prst="rect">
            <a:avLst/>
          </a:prstGeom>
          <a:noFill/>
          <a:ln/>
        </p:spPr>
        <p:txBody>
          <a:bodyPr wrap="square" rtlCol="0" anchor="ctr"/>
          <a:lstStyle/>
          <a:p>
            <a:pPr indent="0" marL="0">
              <a:buNone/>
            </a:pPr>
            <a:r>
              <a:rPr lang="en-US" sz="1200" dirty="0">
                <a:solidFill>
                  <a:srgbClr val="1E2A22"/>
                </a:solidFill>
                <a:latin typeface="Calibri" pitchFamily="34" charset="0"/>
                <a:ea typeface="Calibri" pitchFamily="34" charset="-122"/>
                <a:cs typeface="Calibri" pitchFamily="34" charset="-120"/>
              </a:rPr>
              <a:t>Demographics: age, job category, marital status, education level</a:t>
            </a:r>
            <a:endParaRPr lang="en-US" sz="1200" dirty="0"/>
          </a:p>
        </p:txBody>
      </p:sp>
      <p:pic>
        <p:nvPicPr>
          <p:cNvPr id="9" name="Image 2" descr="preencoded.png">    </p:cNvPr>
          <p:cNvPicPr>
            <a:picLocks noChangeAspect="1"/>
          </p:cNvPicPr>
          <p:nvPr/>
        </p:nvPicPr>
        <p:blipFill>
          <a:blip r:embed="rId3"/>
          <a:stretch>
            <a:fillRect/>
          </a:stretch>
        </p:blipFill>
        <p:spPr>
          <a:xfrm>
            <a:off x="548640" y="3721608"/>
            <a:ext cx="201168" cy="201168"/>
          </a:xfrm>
          <a:prstGeom prst="rect">
            <a:avLst/>
          </a:prstGeom>
        </p:spPr>
      </p:pic>
      <p:sp>
        <p:nvSpPr>
          <p:cNvPr id="10" name="Text 5"/>
          <p:cNvSpPr/>
          <p:nvPr/>
        </p:nvSpPr>
        <p:spPr>
          <a:xfrm>
            <a:off x="868680" y="3648456"/>
            <a:ext cx="5852160" cy="365760"/>
          </a:xfrm>
          <a:prstGeom prst="rect">
            <a:avLst/>
          </a:prstGeom>
          <a:noFill/>
          <a:ln/>
        </p:spPr>
        <p:txBody>
          <a:bodyPr wrap="square" rtlCol="0" anchor="ctr"/>
          <a:lstStyle/>
          <a:p>
            <a:pPr indent="0" marL="0">
              <a:buNone/>
            </a:pPr>
            <a:r>
              <a:rPr lang="en-US" sz="1200" dirty="0">
                <a:solidFill>
                  <a:srgbClr val="1E2A22"/>
                </a:solidFill>
                <a:latin typeface="Calibri" pitchFamily="34" charset="0"/>
                <a:ea typeface="Calibri" pitchFamily="34" charset="-122"/>
                <a:cs typeface="Calibri" pitchFamily="34" charset="-120"/>
              </a:rPr>
              <a:t>Financial indicators: average balance, housing loan, personal loan</a:t>
            </a:r>
            <a:endParaRPr lang="en-US" sz="1200" dirty="0"/>
          </a:p>
        </p:txBody>
      </p:sp>
      <p:pic>
        <p:nvPicPr>
          <p:cNvPr id="11" name="Image 3" descr="preencoded.png">    </p:cNvPr>
          <p:cNvPicPr>
            <a:picLocks noChangeAspect="1"/>
          </p:cNvPicPr>
          <p:nvPr/>
        </p:nvPicPr>
        <p:blipFill>
          <a:blip r:embed="rId4"/>
          <a:stretch>
            <a:fillRect/>
          </a:stretch>
        </p:blipFill>
        <p:spPr>
          <a:xfrm>
            <a:off x="548640" y="4142232"/>
            <a:ext cx="201168" cy="201168"/>
          </a:xfrm>
          <a:prstGeom prst="rect">
            <a:avLst/>
          </a:prstGeom>
        </p:spPr>
      </p:pic>
      <p:sp>
        <p:nvSpPr>
          <p:cNvPr id="12" name="Text 6"/>
          <p:cNvSpPr/>
          <p:nvPr/>
        </p:nvSpPr>
        <p:spPr>
          <a:xfrm>
            <a:off x="868680" y="4069080"/>
            <a:ext cx="5852160" cy="365760"/>
          </a:xfrm>
          <a:prstGeom prst="rect">
            <a:avLst/>
          </a:prstGeom>
          <a:noFill/>
          <a:ln/>
        </p:spPr>
        <p:txBody>
          <a:bodyPr wrap="square" rtlCol="0" anchor="ctr"/>
          <a:lstStyle/>
          <a:p>
            <a:pPr indent="0" marL="0">
              <a:buNone/>
            </a:pPr>
            <a:r>
              <a:rPr lang="en-US" sz="1200" dirty="0">
                <a:solidFill>
                  <a:srgbClr val="1E2A22"/>
                </a:solidFill>
                <a:latin typeface="Calibri" pitchFamily="34" charset="0"/>
                <a:ea typeface="Calibri" pitchFamily="34" charset="-122"/>
                <a:cs typeface="Calibri" pitchFamily="34" charset="-120"/>
              </a:rPr>
              <a:t>Campaign history: previous outcome, contact month</a:t>
            </a:r>
            <a:endParaRPr lang="en-US" sz="1200" dirty="0"/>
          </a:p>
        </p:txBody>
      </p:sp>
      <p:sp>
        <p:nvSpPr>
          <p:cNvPr id="13" name="Shape 7"/>
          <p:cNvSpPr/>
          <p:nvPr/>
        </p:nvSpPr>
        <p:spPr>
          <a:xfrm>
            <a:off x="6903720" y="1417320"/>
            <a:ext cx="4937760" cy="1417320"/>
          </a:xfrm>
          <a:prstGeom prst="roundRect">
            <a:avLst>
              <a:gd name="adj" fmla="val 5161"/>
            </a:avLst>
          </a:prstGeom>
          <a:solidFill>
            <a:srgbClr val="1F4A2C"/>
          </a:solidFill>
          <a:ln/>
          <a:effectLst>
            <a:outerShdw sx="100000" sy="100000" kx="0" ky="0" algn="bl" rotWithShape="0" blurRad="101600" dist="38100" dir="2700000">
              <a:srgbClr val="000000">
                <a:alpha val="12000"/>
              </a:srgbClr>
            </a:outerShdw>
          </a:effectLst>
        </p:spPr>
      </p:sp>
      <p:pic>
        <p:nvPicPr>
          <p:cNvPr id="14" name="Image 4" descr="preencoded.png">    </p:cNvPr>
          <p:cNvPicPr>
            <a:picLocks noChangeAspect="1"/>
          </p:cNvPicPr>
          <p:nvPr/>
        </p:nvPicPr>
        <p:blipFill>
          <a:blip r:embed="rId5"/>
          <a:stretch>
            <a:fillRect/>
          </a:stretch>
        </p:blipFill>
        <p:spPr>
          <a:xfrm>
            <a:off x="7178040" y="1645920"/>
            <a:ext cx="365760" cy="365760"/>
          </a:xfrm>
          <a:prstGeom prst="rect">
            <a:avLst/>
          </a:prstGeom>
        </p:spPr>
      </p:pic>
      <p:sp>
        <p:nvSpPr>
          <p:cNvPr id="15" name="Text 8"/>
          <p:cNvSpPr/>
          <p:nvPr/>
        </p:nvSpPr>
        <p:spPr>
          <a:xfrm>
            <a:off x="7680960" y="1581912"/>
            <a:ext cx="36576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5,289</a:t>
            </a:r>
            <a:endParaRPr lang="en-US" sz="2600" dirty="0"/>
          </a:p>
        </p:txBody>
      </p:sp>
      <p:sp>
        <p:nvSpPr>
          <p:cNvPr id="16" name="Text 9"/>
          <p:cNvSpPr/>
          <p:nvPr/>
        </p:nvSpPr>
        <p:spPr>
          <a:xfrm>
            <a:off x="7680960" y="2075688"/>
            <a:ext cx="4023360" cy="32004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Subscribers  ·  47.38% of total</a:t>
            </a:r>
            <a:endParaRPr lang="en-US" sz="1200" dirty="0"/>
          </a:p>
        </p:txBody>
      </p:sp>
      <p:sp>
        <p:nvSpPr>
          <p:cNvPr id="17" name="Text 10"/>
          <p:cNvSpPr/>
          <p:nvPr/>
        </p:nvSpPr>
        <p:spPr>
          <a:xfrm>
            <a:off x="7178040" y="2404872"/>
            <a:ext cx="4480560" cy="365760"/>
          </a:xfrm>
          <a:prstGeom prst="rect">
            <a:avLst/>
          </a:prstGeom>
          <a:noFill/>
          <a:ln/>
        </p:spPr>
        <p:txBody>
          <a:bodyPr wrap="square" rtlCol="0" anchor="ctr"/>
          <a:lstStyle/>
          <a:p>
            <a:pPr indent="0" marL="0">
              <a:buNone/>
            </a:pPr>
            <a:r>
              <a:rPr lang="en-US" sz="1050" dirty="0">
                <a:solidFill>
                  <a:srgbClr val="CFE0C8"/>
                </a:solidFill>
                <a:latin typeface="Calibri" pitchFamily="34" charset="0"/>
                <a:ea typeface="Calibri" pitchFamily="34" charset="-122"/>
                <a:cs typeface="Calibri" pitchFamily="34" charset="-120"/>
              </a:rPr>
              <a:t>Clients who opened a term deposit after being contacted</a:t>
            </a:r>
            <a:endParaRPr lang="en-US" sz="1050" dirty="0"/>
          </a:p>
        </p:txBody>
      </p:sp>
      <p:sp>
        <p:nvSpPr>
          <p:cNvPr id="18" name="Shape 11"/>
          <p:cNvSpPr/>
          <p:nvPr/>
        </p:nvSpPr>
        <p:spPr>
          <a:xfrm>
            <a:off x="6903720" y="3063240"/>
            <a:ext cx="4937760" cy="1417320"/>
          </a:xfrm>
          <a:prstGeom prst="roundRect">
            <a:avLst>
              <a:gd name="adj" fmla="val 5161"/>
            </a:avLst>
          </a:prstGeom>
          <a:solidFill>
            <a:srgbClr val="F7F8F5"/>
          </a:solidFill>
          <a:ln w="12700">
            <a:solidFill>
              <a:srgbClr val="E3E7DE"/>
            </a:solidFill>
            <a:prstDash val="solid"/>
          </a:ln>
          <a:effectLst>
            <a:outerShdw sx="100000" sy="100000" kx="0" ky="0" algn="bl" rotWithShape="0" blurRad="101600" dist="38100" dir="2700000">
              <a:srgbClr val="000000">
                <a:alpha val="12000"/>
              </a:srgbClr>
            </a:outerShdw>
          </a:effectLst>
        </p:spPr>
      </p:sp>
      <p:pic>
        <p:nvPicPr>
          <p:cNvPr id="19" name="Image 5" descr="preencoded.png">    </p:cNvPr>
          <p:cNvPicPr>
            <a:picLocks noChangeAspect="1"/>
          </p:cNvPicPr>
          <p:nvPr/>
        </p:nvPicPr>
        <p:blipFill>
          <a:blip r:embed="rId6"/>
          <a:stretch>
            <a:fillRect/>
          </a:stretch>
        </p:blipFill>
        <p:spPr>
          <a:xfrm>
            <a:off x="7178040" y="3291840"/>
            <a:ext cx="365760" cy="365760"/>
          </a:xfrm>
          <a:prstGeom prst="rect">
            <a:avLst/>
          </a:prstGeom>
        </p:spPr>
      </p:pic>
      <p:sp>
        <p:nvSpPr>
          <p:cNvPr id="20" name="Text 12"/>
          <p:cNvSpPr/>
          <p:nvPr/>
        </p:nvSpPr>
        <p:spPr>
          <a:xfrm>
            <a:off x="7680960" y="3227832"/>
            <a:ext cx="3657600" cy="502920"/>
          </a:xfrm>
          <a:prstGeom prst="rect">
            <a:avLst/>
          </a:prstGeom>
          <a:noFill/>
          <a:ln/>
        </p:spPr>
        <p:txBody>
          <a:bodyPr wrap="square" rtlCol="0" anchor="ctr"/>
          <a:lstStyle/>
          <a:p>
            <a:pPr indent="0" marL="0">
              <a:buNone/>
            </a:pPr>
            <a:r>
              <a:rPr lang="en-US" sz="2600" b="1" dirty="0">
                <a:solidFill>
                  <a:srgbClr val="1E2A22"/>
                </a:solidFill>
                <a:latin typeface="Cambria" pitchFamily="34" charset="0"/>
                <a:ea typeface="Cambria" pitchFamily="34" charset="-122"/>
                <a:cs typeface="Cambria" pitchFamily="34" charset="-120"/>
              </a:rPr>
              <a:t>5,873</a:t>
            </a:r>
            <a:endParaRPr lang="en-US" sz="2600" dirty="0"/>
          </a:p>
        </p:txBody>
      </p:sp>
      <p:sp>
        <p:nvSpPr>
          <p:cNvPr id="21" name="Text 13"/>
          <p:cNvSpPr/>
          <p:nvPr/>
        </p:nvSpPr>
        <p:spPr>
          <a:xfrm>
            <a:off x="7680960" y="3721608"/>
            <a:ext cx="4023360" cy="320040"/>
          </a:xfrm>
          <a:prstGeom prst="rect">
            <a:avLst/>
          </a:prstGeom>
          <a:noFill/>
          <a:ln/>
        </p:spPr>
        <p:txBody>
          <a:bodyPr wrap="square" rtlCol="0" anchor="ctr"/>
          <a:lstStyle/>
          <a:p>
            <a:pPr indent="0" marL="0">
              <a:buNone/>
            </a:pPr>
            <a:r>
              <a:rPr lang="en-US" sz="1200" dirty="0">
                <a:solidFill>
                  <a:srgbClr val="B65C3C"/>
                </a:solidFill>
                <a:latin typeface="Calibri" pitchFamily="34" charset="0"/>
                <a:ea typeface="Calibri" pitchFamily="34" charset="-122"/>
                <a:cs typeface="Calibri" pitchFamily="34" charset="-120"/>
              </a:rPr>
              <a:t>Non-Subscribers  ·  52.62% of total</a:t>
            </a:r>
            <a:endParaRPr lang="en-US" sz="1200" dirty="0"/>
          </a:p>
        </p:txBody>
      </p:sp>
      <p:sp>
        <p:nvSpPr>
          <p:cNvPr id="22" name="Text 14"/>
          <p:cNvSpPr/>
          <p:nvPr/>
        </p:nvSpPr>
        <p:spPr>
          <a:xfrm>
            <a:off x="7178040" y="4050792"/>
            <a:ext cx="4480560" cy="365760"/>
          </a:xfrm>
          <a:prstGeom prst="rect">
            <a:avLst/>
          </a:prstGeom>
          <a:noFill/>
          <a:ln/>
        </p:spPr>
        <p:txBody>
          <a:bodyPr wrap="square" rtlCol="0" anchor="ctr"/>
          <a:lstStyle/>
          <a:p>
            <a:pPr indent="0" marL="0">
              <a:buNone/>
            </a:pPr>
            <a:r>
              <a:rPr lang="en-US" sz="1050" dirty="0">
                <a:solidFill>
                  <a:srgbClr val="6B7A70"/>
                </a:solidFill>
                <a:latin typeface="Calibri" pitchFamily="34" charset="0"/>
                <a:ea typeface="Calibri" pitchFamily="34" charset="-122"/>
                <a:cs typeface="Calibri" pitchFamily="34" charset="-120"/>
              </a:rPr>
              <a:t>Clients who declined the term deposit offer</a:t>
            </a:r>
            <a:endParaRPr lang="en-US" sz="1050" dirty="0"/>
          </a:p>
        </p:txBody>
      </p:sp>
      <p:sp>
        <p:nvSpPr>
          <p:cNvPr id="23" name="Text 15"/>
          <p:cNvSpPr/>
          <p:nvPr/>
        </p:nvSpPr>
        <p:spPr>
          <a:xfrm>
            <a:off x="365760" y="6473952"/>
            <a:ext cx="5486400" cy="274320"/>
          </a:xfrm>
          <a:prstGeom prst="rect">
            <a:avLst/>
          </a:prstGeom>
          <a:noFill/>
          <a:ln/>
        </p:spPr>
        <p:txBody>
          <a:bodyPr wrap="square" rtlCol="0" anchor="ctr"/>
          <a:lstStyle/>
          <a:p>
            <a:pPr indent="0" marL="0">
              <a:buNone/>
            </a:pPr>
            <a:r>
              <a:rPr lang="en-US" sz="900" dirty="0">
                <a:solidFill>
                  <a:srgbClr val="6B7A70"/>
                </a:solidFill>
                <a:latin typeface="Calibri" pitchFamily="34" charset="0"/>
                <a:ea typeface="Calibri" pitchFamily="34" charset="-122"/>
                <a:cs typeface="Calibri" pitchFamily="34" charset="-120"/>
              </a:rPr>
              <a:t>Bank Campaign Analysis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5C8A54"/>
                </a:solidFill>
                <a:latin typeface="Calibri" pitchFamily="34" charset="0"/>
                <a:ea typeface="Calibri" pitchFamily="34" charset="-122"/>
                <a:cs typeface="Calibri" pitchFamily="34" charset="-120"/>
              </a:rPr>
              <a:t>02  ·  KEY VISUALIZATIONS</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1E2A22"/>
                </a:solidFill>
                <a:latin typeface="Cambria" pitchFamily="34" charset="0"/>
                <a:ea typeface="Cambria" pitchFamily="34" charset="-122"/>
                <a:cs typeface="Cambria" pitchFamily="34" charset="-120"/>
              </a:rPr>
              <a:t>Headline Metrics, Side by Side</a:t>
            </a:r>
            <a:endParaRPr lang="en-US" sz="3000" dirty="0"/>
          </a:p>
        </p:txBody>
      </p:sp>
      <p:sp>
        <p:nvSpPr>
          <p:cNvPr id="4" name="Shape 2"/>
          <p:cNvSpPr/>
          <p:nvPr/>
        </p:nvSpPr>
        <p:spPr>
          <a:xfrm>
            <a:off x="548640" y="1417320"/>
            <a:ext cx="5440680" cy="502920"/>
          </a:xfrm>
          <a:prstGeom prst="roundRect">
            <a:avLst>
              <a:gd name="adj" fmla="val 10909"/>
            </a:avLst>
          </a:prstGeom>
          <a:solidFill>
            <a:srgbClr val="1F4A2C"/>
          </a:solidFill>
          <a:ln/>
        </p:spPr>
      </p:sp>
      <p:sp>
        <p:nvSpPr>
          <p:cNvPr id="5" name="Text 3"/>
          <p:cNvSpPr/>
          <p:nvPr/>
        </p:nvSpPr>
        <p:spPr>
          <a:xfrm>
            <a:off x="548640" y="1417320"/>
            <a:ext cx="544068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Subscribers</a:t>
            </a:r>
            <a:endParaRPr lang="en-US" sz="1500" dirty="0"/>
          </a:p>
        </p:txBody>
      </p:sp>
      <p:sp>
        <p:nvSpPr>
          <p:cNvPr id="6" name="Shape 4"/>
          <p:cNvSpPr/>
          <p:nvPr/>
        </p:nvSpPr>
        <p:spPr>
          <a:xfrm>
            <a:off x="548640" y="2148840"/>
            <a:ext cx="2628900" cy="1691640"/>
          </a:xfrm>
          <a:prstGeom prst="roundRect">
            <a:avLst>
              <a:gd name="adj" fmla="val 3784"/>
            </a:avLst>
          </a:prstGeom>
          <a:solidFill>
            <a:srgbClr val="F7F8F5"/>
          </a:solidFill>
          <a:ln w="12700">
            <a:solidFill>
              <a:srgbClr val="E3E7DE"/>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749808" y="2350008"/>
            <a:ext cx="457200" cy="457200"/>
          </a:xfrm>
          <a:prstGeom prst="ellipse">
            <a:avLst/>
          </a:prstGeom>
          <a:solidFill>
            <a:srgbClr val="1F4A2C"/>
          </a:solidFill>
          <a:ln/>
        </p:spPr>
      </p:sp>
      <p:pic>
        <p:nvPicPr>
          <p:cNvPr id="8" name="Image 0" descr="preencoded.png">    </p:cNvPr>
          <p:cNvPicPr>
            <a:picLocks noChangeAspect="1"/>
          </p:cNvPicPr>
          <p:nvPr/>
        </p:nvPicPr>
        <p:blipFill>
          <a:blip r:embed="rId1"/>
          <a:stretch>
            <a:fillRect/>
          </a:stretch>
        </p:blipFill>
        <p:spPr>
          <a:xfrm>
            <a:off x="859536" y="2459736"/>
            <a:ext cx="237744" cy="237744"/>
          </a:xfrm>
          <a:prstGeom prst="rect">
            <a:avLst/>
          </a:prstGeom>
        </p:spPr>
      </p:pic>
      <p:sp>
        <p:nvSpPr>
          <p:cNvPr id="9" name="Text 6"/>
          <p:cNvSpPr/>
          <p:nvPr/>
        </p:nvSpPr>
        <p:spPr>
          <a:xfrm>
            <a:off x="749808" y="2926080"/>
            <a:ext cx="2263140" cy="457200"/>
          </a:xfrm>
          <a:prstGeom prst="rect">
            <a:avLst/>
          </a:prstGeom>
          <a:noFill/>
          <a:ln/>
        </p:spPr>
        <p:txBody>
          <a:bodyPr wrap="square" rtlCol="0" anchor="ctr"/>
          <a:lstStyle/>
          <a:p>
            <a:pPr indent="0" marL="0">
              <a:buNone/>
            </a:pPr>
            <a:r>
              <a:rPr lang="en-US" sz="2200" b="1" dirty="0">
                <a:solidFill>
                  <a:srgbClr val="1E2A22"/>
                </a:solidFill>
                <a:latin typeface="Cambria" pitchFamily="34" charset="0"/>
                <a:ea typeface="Cambria" pitchFamily="34" charset="-122"/>
                <a:cs typeface="Cambria" pitchFamily="34" charset="-120"/>
              </a:rPr>
              <a:t>537.18s</a:t>
            </a:r>
            <a:endParaRPr lang="en-US" sz="2200" dirty="0"/>
          </a:p>
        </p:txBody>
      </p:sp>
      <p:sp>
        <p:nvSpPr>
          <p:cNvPr id="10" name="Text 7"/>
          <p:cNvSpPr/>
          <p:nvPr/>
        </p:nvSpPr>
        <p:spPr>
          <a:xfrm>
            <a:off x="749808" y="3383280"/>
            <a:ext cx="2263140" cy="365760"/>
          </a:xfrm>
          <a:prstGeom prst="rect">
            <a:avLst/>
          </a:prstGeom>
          <a:noFill/>
          <a:ln/>
        </p:spPr>
        <p:txBody>
          <a:bodyPr wrap="square" rtlCol="0" anchor="ctr"/>
          <a:lstStyle/>
          <a:p>
            <a:pPr indent="0" marL="0">
              <a:buNone/>
            </a:pPr>
            <a:r>
              <a:rPr lang="en-US" sz="1050" dirty="0">
                <a:solidFill>
                  <a:srgbClr val="6B7A70"/>
                </a:solidFill>
                <a:latin typeface="Calibri" pitchFamily="34" charset="0"/>
                <a:ea typeface="Calibri" pitchFamily="34" charset="-122"/>
                <a:cs typeface="Calibri" pitchFamily="34" charset="-120"/>
              </a:rPr>
              <a:t>Avg. Call Duration</a:t>
            </a:r>
            <a:endParaRPr lang="en-US" sz="1050" dirty="0"/>
          </a:p>
        </p:txBody>
      </p:sp>
      <p:sp>
        <p:nvSpPr>
          <p:cNvPr id="11" name="Shape 8"/>
          <p:cNvSpPr/>
          <p:nvPr/>
        </p:nvSpPr>
        <p:spPr>
          <a:xfrm>
            <a:off x="3360420" y="2148840"/>
            <a:ext cx="2628900" cy="1691640"/>
          </a:xfrm>
          <a:prstGeom prst="roundRect">
            <a:avLst>
              <a:gd name="adj" fmla="val 3784"/>
            </a:avLst>
          </a:prstGeom>
          <a:solidFill>
            <a:srgbClr val="F7F8F5"/>
          </a:solidFill>
          <a:ln w="12700">
            <a:solidFill>
              <a:srgbClr val="E3E7DE"/>
            </a:solidFill>
            <a:prstDash val="solid"/>
          </a:ln>
          <a:effectLst>
            <a:outerShdw sx="100000" sy="100000" kx="0" ky="0" algn="bl" rotWithShape="0" blurRad="101600" dist="38100" dir="2700000">
              <a:srgbClr val="000000">
                <a:alpha val="12000"/>
              </a:srgbClr>
            </a:outerShdw>
          </a:effectLst>
        </p:spPr>
      </p:sp>
      <p:sp>
        <p:nvSpPr>
          <p:cNvPr id="12" name="Shape 9"/>
          <p:cNvSpPr/>
          <p:nvPr/>
        </p:nvSpPr>
        <p:spPr>
          <a:xfrm>
            <a:off x="3561588" y="2350008"/>
            <a:ext cx="457200" cy="457200"/>
          </a:xfrm>
          <a:prstGeom prst="ellipse">
            <a:avLst/>
          </a:prstGeom>
          <a:solidFill>
            <a:srgbClr val="1F4A2C"/>
          </a:solidFill>
          <a:ln/>
        </p:spPr>
      </p:sp>
      <p:pic>
        <p:nvPicPr>
          <p:cNvPr id="13" name="Image 1" descr="preencoded.png">    </p:cNvPr>
          <p:cNvPicPr>
            <a:picLocks noChangeAspect="1"/>
          </p:cNvPicPr>
          <p:nvPr/>
        </p:nvPicPr>
        <p:blipFill>
          <a:blip r:embed="rId2"/>
          <a:stretch>
            <a:fillRect/>
          </a:stretch>
        </p:blipFill>
        <p:spPr>
          <a:xfrm>
            <a:off x="3671316" y="2459736"/>
            <a:ext cx="237744" cy="237744"/>
          </a:xfrm>
          <a:prstGeom prst="rect">
            <a:avLst/>
          </a:prstGeom>
        </p:spPr>
      </p:pic>
      <p:sp>
        <p:nvSpPr>
          <p:cNvPr id="14" name="Text 10"/>
          <p:cNvSpPr/>
          <p:nvPr/>
        </p:nvSpPr>
        <p:spPr>
          <a:xfrm>
            <a:off x="3561588" y="2926080"/>
            <a:ext cx="2263140" cy="457200"/>
          </a:xfrm>
          <a:prstGeom prst="rect">
            <a:avLst/>
          </a:prstGeom>
          <a:noFill/>
          <a:ln/>
        </p:spPr>
        <p:txBody>
          <a:bodyPr wrap="square" rtlCol="0" anchor="ctr"/>
          <a:lstStyle/>
          <a:p>
            <a:pPr indent="0" marL="0">
              <a:buNone/>
            </a:pPr>
            <a:r>
              <a:rPr lang="en-US" sz="2200" b="1" dirty="0">
                <a:solidFill>
                  <a:srgbClr val="1E2A22"/>
                </a:solidFill>
                <a:latin typeface="Cambria" pitchFamily="34" charset="0"/>
                <a:ea typeface="Cambria" pitchFamily="34" charset="-122"/>
                <a:cs typeface="Cambria" pitchFamily="34" charset="-120"/>
              </a:rPr>
              <a:t>47.38%</a:t>
            </a:r>
            <a:endParaRPr lang="en-US" sz="2200" dirty="0"/>
          </a:p>
        </p:txBody>
      </p:sp>
      <p:sp>
        <p:nvSpPr>
          <p:cNvPr id="15" name="Text 11"/>
          <p:cNvSpPr/>
          <p:nvPr/>
        </p:nvSpPr>
        <p:spPr>
          <a:xfrm>
            <a:off x="3561588" y="3383280"/>
            <a:ext cx="2263140" cy="365760"/>
          </a:xfrm>
          <a:prstGeom prst="rect">
            <a:avLst/>
          </a:prstGeom>
          <a:noFill/>
          <a:ln/>
        </p:spPr>
        <p:txBody>
          <a:bodyPr wrap="square" rtlCol="0" anchor="ctr"/>
          <a:lstStyle/>
          <a:p>
            <a:pPr indent="0" marL="0">
              <a:buNone/>
            </a:pPr>
            <a:r>
              <a:rPr lang="en-US" sz="1050" dirty="0">
                <a:solidFill>
                  <a:srgbClr val="6B7A70"/>
                </a:solidFill>
                <a:latin typeface="Calibri" pitchFamily="34" charset="0"/>
                <a:ea typeface="Calibri" pitchFamily="34" charset="-122"/>
                <a:cs typeface="Calibri" pitchFamily="34" charset="-120"/>
              </a:rPr>
              <a:t>Conversion Rate</a:t>
            </a:r>
            <a:endParaRPr lang="en-US" sz="1050" dirty="0"/>
          </a:p>
        </p:txBody>
      </p:sp>
      <p:sp>
        <p:nvSpPr>
          <p:cNvPr id="16" name="Shape 12"/>
          <p:cNvSpPr/>
          <p:nvPr/>
        </p:nvSpPr>
        <p:spPr>
          <a:xfrm>
            <a:off x="548640" y="4023360"/>
            <a:ext cx="2628900" cy="1691640"/>
          </a:xfrm>
          <a:prstGeom prst="roundRect">
            <a:avLst>
              <a:gd name="adj" fmla="val 3784"/>
            </a:avLst>
          </a:prstGeom>
          <a:solidFill>
            <a:srgbClr val="F7F8F5"/>
          </a:solidFill>
          <a:ln w="12700">
            <a:solidFill>
              <a:srgbClr val="E3E7DE"/>
            </a:solidFill>
            <a:prstDash val="solid"/>
          </a:ln>
          <a:effectLst>
            <a:outerShdw sx="100000" sy="100000" kx="0" ky="0" algn="bl" rotWithShape="0" blurRad="101600" dist="38100" dir="2700000">
              <a:srgbClr val="000000">
                <a:alpha val="12000"/>
              </a:srgbClr>
            </a:outerShdw>
          </a:effectLst>
        </p:spPr>
      </p:sp>
      <p:sp>
        <p:nvSpPr>
          <p:cNvPr id="17" name="Shape 13"/>
          <p:cNvSpPr/>
          <p:nvPr/>
        </p:nvSpPr>
        <p:spPr>
          <a:xfrm>
            <a:off x="749808" y="4224528"/>
            <a:ext cx="457200" cy="457200"/>
          </a:xfrm>
          <a:prstGeom prst="ellipse">
            <a:avLst/>
          </a:prstGeom>
          <a:solidFill>
            <a:srgbClr val="1F4A2C"/>
          </a:solidFill>
          <a:ln/>
        </p:spPr>
      </p:sp>
      <p:pic>
        <p:nvPicPr>
          <p:cNvPr id="18" name="Image 2" descr="preencoded.png">    </p:cNvPr>
          <p:cNvPicPr>
            <a:picLocks noChangeAspect="1"/>
          </p:cNvPicPr>
          <p:nvPr/>
        </p:nvPicPr>
        <p:blipFill>
          <a:blip r:embed="rId3"/>
          <a:stretch>
            <a:fillRect/>
          </a:stretch>
        </p:blipFill>
        <p:spPr>
          <a:xfrm>
            <a:off x="859536" y="4334256"/>
            <a:ext cx="237744" cy="237744"/>
          </a:xfrm>
          <a:prstGeom prst="rect">
            <a:avLst/>
          </a:prstGeom>
        </p:spPr>
      </p:pic>
      <p:sp>
        <p:nvSpPr>
          <p:cNvPr id="19" name="Text 14"/>
          <p:cNvSpPr/>
          <p:nvPr/>
        </p:nvSpPr>
        <p:spPr>
          <a:xfrm>
            <a:off x="749808" y="4800600"/>
            <a:ext cx="2263140" cy="457200"/>
          </a:xfrm>
          <a:prstGeom prst="rect">
            <a:avLst/>
          </a:prstGeom>
          <a:noFill/>
          <a:ln/>
        </p:spPr>
        <p:txBody>
          <a:bodyPr wrap="square" rtlCol="0" anchor="ctr"/>
          <a:lstStyle/>
          <a:p>
            <a:pPr indent="0" marL="0">
              <a:buNone/>
            </a:pPr>
            <a:r>
              <a:rPr lang="en-US" sz="2200" b="1" dirty="0">
                <a:solidFill>
                  <a:srgbClr val="1E2A22"/>
                </a:solidFill>
                <a:latin typeface="Cambria" pitchFamily="34" charset="0"/>
                <a:ea typeface="Cambria" pitchFamily="34" charset="-122"/>
                <a:cs typeface="Cambria" pitchFamily="34" charset="-120"/>
              </a:rPr>
              <a:t>$1,804</a:t>
            </a:r>
            <a:endParaRPr lang="en-US" sz="2200" dirty="0"/>
          </a:p>
        </p:txBody>
      </p:sp>
      <p:sp>
        <p:nvSpPr>
          <p:cNvPr id="20" name="Text 15"/>
          <p:cNvSpPr/>
          <p:nvPr/>
        </p:nvSpPr>
        <p:spPr>
          <a:xfrm>
            <a:off x="749808" y="5257800"/>
            <a:ext cx="2263140" cy="365760"/>
          </a:xfrm>
          <a:prstGeom prst="rect">
            <a:avLst/>
          </a:prstGeom>
          <a:noFill/>
          <a:ln/>
        </p:spPr>
        <p:txBody>
          <a:bodyPr wrap="square" rtlCol="0" anchor="ctr"/>
          <a:lstStyle/>
          <a:p>
            <a:pPr indent="0" marL="0">
              <a:buNone/>
            </a:pPr>
            <a:r>
              <a:rPr lang="en-US" sz="1050" dirty="0">
                <a:solidFill>
                  <a:srgbClr val="6B7A70"/>
                </a:solidFill>
                <a:latin typeface="Calibri" pitchFamily="34" charset="0"/>
                <a:ea typeface="Calibri" pitchFamily="34" charset="-122"/>
                <a:cs typeface="Calibri" pitchFamily="34" charset="-120"/>
              </a:rPr>
              <a:t>Avg. Balance</a:t>
            </a:r>
            <a:endParaRPr lang="en-US" sz="1050" dirty="0"/>
          </a:p>
        </p:txBody>
      </p:sp>
      <p:sp>
        <p:nvSpPr>
          <p:cNvPr id="21" name="Shape 16"/>
          <p:cNvSpPr/>
          <p:nvPr/>
        </p:nvSpPr>
        <p:spPr>
          <a:xfrm>
            <a:off x="3360420" y="4023360"/>
            <a:ext cx="2628900" cy="1691640"/>
          </a:xfrm>
          <a:prstGeom prst="roundRect">
            <a:avLst>
              <a:gd name="adj" fmla="val 3784"/>
            </a:avLst>
          </a:prstGeom>
          <a:solidFill>
            <a:srgbClr val="F7F8F5"/>
          </a:solidFill>
          <a:ln w="12700">
            <a:solidFill>
              <a:srgbClr val="E3E7DE"/>
            </a:solidFill>
            <a:prstDash val="solid"/>
          </a:ln>
          <a:effectLst>
            <a:outerShdw sx="100000" sy="100000" kx="0" ky="0" algn="bl" rotWithShape="0" blurRad="101600" dist="38100" dir="2700000">
              <a:srgbClr val="000000">
                <a:alpha val="12000"/>
              </a:srgbClr>
            </a:outerShdw>
          </a:effectLst>
        </p:spPr>
      </p:sp>
      <p:sp>
        <p:nvSpPr>
          <p:cNvPr id="22" name="Shape 17"/>
          <p:cNvSpPr/>
          <p:nvPr/>
        </p:nvSpPr>
        <p:spPr>
          <a:xfrm>
            <a:off x="3561588" y="4224528"/>
            <a:ext cx="457200" cy="457200"/>
          </a:xfrm>
          <a:prstGeom prst="ellipse">
            <a:avLst/>
          </a:prstGeom>
          <a:solidFill>
            <a:srgbClr val="1F4A2C"/>
          </a:solidFill>
          <a:ln/>
        </p:spPr>
      </p:sp>
      <p:pic>
        <p:nvPicPr>
          <p:cNvPr id="23" name="Image 3" descr="preencoded.png">    </p:cNvPr>
          <p:cNvPicPr>
            <a:picLocks noChangeAspect="1"/>
          </p:cNvPicPr>
          <p:nvPr/>
        </p:nvPicPr>
        <p:blipFill>
          <a:blip r:embed="rId4"/>
          <a:stretch>
            <a:fillRect/>
          </a:stretch>
        </p:blipFill>
        <p:spPr>
          <a:xfrm>
            <a:off x="3671316" y="4334256"/>
            <a:ext cx="237744" cy="237744"/>
          </a:xfrm>
          <a:prstGeom prst="rect">
            <a:avLst/>
          </a:prstGeom>
        </p:spPr>
      </p:pic>
      <p:sp>
        <p:nvSpPr>
          <p:cNvPr id="24" name="Text 18"/>
          <p:cNvSpPr/>
          <p:nvPr/>
        </p:nvSpPr>
        <p:spPr>
          <a:xfrm>
            <a:off x="3561588" y="4800600"/>
            <a:ext cx="2263140" cy="457200"/>
          </a:xfrm>
          <a:prstGeom prst="rect">
            <a:avLst/>
          </a:prstGeom>
          <a:noFill/>
          <a:ln/>
        </p:spPr>
        <p:txBody>
          <a:bodyPr wrap="square" rtlCol="0" anchor="ctr"/>
          <a:lstStyle/>
          <a:p>
            <a:pPr indent="0" marL="0">
              <a:buNone/>
            </a:pPr>
            <a:r>
              <a:rPr lang="en-US" sz="2200" b="1" dirty="0">
                <a:solidFill>
                  <a:srgbClr val="1E2A22"/>
                </a:solidFill>
                <a:latin typeface="Cambria" pitchFamily="34" charset="0"/>
                <a:ea typeface="Cambria" pitchFamily="34" charset="-122"/>
                <a:cs typeface="Cambria" pitchFamily="34" charset="-120"/>
              </a:rPr>
              <a:t>42</a:t>
            </a:r>
            <a:endParaRPr lang="en-US" sz="2200" dirty="0"/>
          </a:p>
        </p:txBody>
      </p:sp>
      <p:sp>
        <p:nvSpPr>
          <p:cNvPr id="25" name="Text 19"/>
          <p:cNvSpPr/>
          <p:nvPr/>
        </p:nvSpPr>
        <p:spPr>
          <a:xfrm>
            <a:off x="3561588" y="5257800"/>
            <a:ext cx="2263140" cy="365760"/>
          </a:xfrm>
          <a:prstGeom prst="rect">
            <a:avLst/>
          </a:prstGeom>
          <a:noFill/>
          <a:ln/>
        </p:spPr>
        <p:txBody>
          <a:bodyPr wrap="square" rtlCol="0" anchor="ctr"/>
          <a:lstStyle/>
          <a:p>
            <a:pPr indent="0" marL="0">
              <a:buNone/>
            </a:pPr>
            <a:r>
              <a:rPr lang="en-US" sz="1050" dirty="0">
                <a:solidFill>
                  <a:srgbClr val="6B7A70"/>
                </a:solidFill>
                <a:latin typeface="Calibri" pitchFamily="34" charset="0"/>
                <a:ea typeface="Calibri" pitchFamily="34" charset="-122"/>
                <a:cs typeface="Calibri" pitchFamily="34" charset="-120"/>
              </a:rPr>
              <a:t>Avg. Age</a:t>
            </a:r>
            <a:endParaRPr lang="en-US" sz="1050" dirty="0"/>
          </a:p>
        </p:txBody>
      </p:sp>
      <p:sp>
        <p:nvSpPr>
          <p:cNvPr id="26" name="Shape 20"/>
          <p:cNvSpPr/>
          <p:nvPr/>
        </p:nvSpPr>
        <p:spPr>
          <a:xfrm>
            <a:off x="6172200" y="1417320"/>
            <a:ext cx="5440680" cy="502920"/>
          </a:xfrm>
          <a:prstGeom prst="roundRect">
            <a:avLst>
              <a:gd name="adj" fmla="val 10909"/>
            </a:avLst>
          </a:prstGeom>
          <a:solidFill>
            <a:srgbClr val="5A5F55"/>
          </a:solidFill>
          <a:ln/>
        </p:spPr>
      </p:sp>
      <p:sp>
        <p:nvSpPr>
          <p:cNvPr id="27" name="Text 21"/>
          <p:cNvSpPr/>
          <p:nvPr/>
        </p:nvSpPr>
        <p:spPr>
          <a:xfrm>
            <a:off x="6172200" y="1417320"/>
            <a:ext cx="544068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Non-Subscribers</a:t>
            </a:r>
            <a:endParaRPr lang="en-US" sz="1500" dirty="0"/>
          </a:p>
        </p:txBody>
      </p:sp>
      <p:sp>
        <p:nvSpPr>
          <p:cNvPr id="28" name="Shape 22"/>
          <p:cNvSpPr/>
          <p:nvPr/>
        </p:nvSpPr>
        <p:spPr>
          <a:xfrm>
            <a:off x="6172200" y="2148840"/>
            <a:ext cx="2628900" cy="1691640"/>
          </a:xfrm>
          <a:prstGeom prst="roundRect">
            <a:avLst>
              <a:gd name="adj" fmla="val 3784"/>
            </a:avLst>
          </a:prstGeom>
          <a:solidFill>
            <a:srgbClr val="F7F8F5"/>
          </a:solidFill>
          <a:ln w="12700">
            <a:solidFill>
              <a:srgbClr val="E3E7DE"/>
            </a:solidFill>
            <a:prstDash val="solid"/>
          </a:ln>
          <a:effectLst>
            <a:outerShdw sx="100000" sy="100000" kx="0" ky="0" algn="bl" rotWithShape="0" blurRad="101600" dist="38100" dir="2700000">
              <a:srgbClr val="000000">
                <a:alpha val="12000"/>
              </a:srgbClr>
            </a:outerShdw>
          </a:effectLst>
        </p:spPr>
      </p:sp>
      <p:sp>
        <p:nvSpPr>
          <p:cNvPr id="29" name="Shape 23"/>
          <p:cNvSpPr/>
          <p:nvPr/>
        </p:nvSpPr>
        <p:spPr>
          <a:xfrm>
            <a:off x="6373368" y="2350008"/>
            <a:ext cx="457200" cy="457200"/>
          </a:xfrm>
          <a:prstGeom prst="ellipse">
            <a:avLst/>
          </a:prstGeom>
          <a:solidFill>
            <a:srgbClr val="5A5F55"/>
          </a:solidFill>
          <a:ln/>
        </p:spPr>
      </p:sp>
      <p:pic>
        <p:nvPicPr>
          <p:cNvPr id="30" name="Image 4" descr="preencoded.png">    </p:cNvPr>
          <p:cNvPicPr>
            <a:picLocks noChangeAspect="1"/>
          </p:cNvPicPr>
          <p:nvPr/>
        </p:nvPicPr>
        <p:blipFill>
          <a:blip r:embed="rId5"/>
          <a:stretch>
            <a:fillRect/>
          </a:stretch>
        </p:blipFill>
        <p:spPr>
          <a:xfrm>
            <a:off x="6483096" y="2459736"/>
            <a:ext cx="237744" cy="237744"/>
          </a:xfrm>
          <a:prstGeom prst="rect">
            <a:avLst/>
          </a:prstGeom>
        </p:spPr>
      </p:pic>
      <p:sp>
        <p:nvSpPr>
          <p:cNvPr id="31" name="Text 24"/>
          <p:cNvSpPr/>
          <p:nvPr/>
        </p:nvSpPr>
        <p:spPr>
          <a:xfrm>
            <a:off x="6373368" y="2926080"/>
            <a:ext cx="2263140" cy="457200"/>
          </a:xfrm>
          <a:prstGeom prst="rect">
            <a:avLst/>
          </a:prstGeom>
          <a:noFill/>
          <a:ln/>
        </p:spPr>
        <p:txBody>
          <a:bodyPr wrap="square" rtlCol="0" anchor="ctr"/>
          <a:lstStyle/>
          <a:p>
            <a:pPr indent="0" marL="0">
              <a:buNone/>
            </a:pPr>
            <a:r>
              <a:rPr lang="en-US" sz="2200" b="1" dirty="0">
                <a:solidFill>
                  <a:srgbClr val="1E2A22"/>
                </a:solidFill>
                <a:latin typeface="Cambria" pitchFamily="34" charset="0"/>
                <a:ea typeface="Cambria" pitchFamily="34" charset="-122"/>
                <a:cs typeface="Cambria" pitchFamily="34" charset="-120"/>
              </a:rPr>
              <a:t>223.13s</a:t>
            </a:r>
            <a:endParaRPr lang="en-US" sz="2200" dirty="0"/>
          </a:p>
        </p:txBody>
      </p:sp>
      <p:sp>
        <p:nvSpPr>
          <p:cNvPr id="32" name="Text 25"/>
          <p:cNvSpPr/>
          <p:nvPr/>
        </p:nvSpPr>
        <p:spPr>
          <a:xfrm>
            <a:off x="6373368" y="3383280"/>
            <a:ext cx="2263140" cy="365760"/>
          </a:xfrm>
          <a:prstGeom prst="rect">
            <a:avLst/>
          </a:prstGeom>
          <a:noFill/>
          <a:ln/>
        </p:spPr>
        <p:txBody>
          <a:bodyPr wrap="square" rtlCol="0" anchor="ctr"/>
          <a:lstStyle/>
          <a:p>
            <a:pPr indent="0" marL="0">
              <a:buNone/>
            </a:pPr>
            <a:r>
              <a:rPr lang="en-US" sz="1050" dirty="0">
                <a:solidFill>
                  <a:srgbClr val="6B7A70"/>
                </a:solidFill>
                <a:latin typeface="Calibri" pitchFamily="34" charset="0"/>
                <a:ea typeface="Calibri" pitchFamily="34" charset="-122"/>
                <a:cs typeface="Calibri" pitchFamily="34" charset="-120"/>
              </a:rPr>
              <a:t>Avg. Call Duration</a:t>
            </a:r>
            <a:endParaRPr lang="en-US" sz="1050" dirty="0"/>
          </a:p>
        </p:txBody>
      </p:sp>
      <p:sp>
        <p:nvSpPr>
          <p:cNvPr id="33" name="Shape 26"/>
          <p:cNvSpPr/>
          <p:nvPr/>
        </p:nvSpPr>
        <p:spPr>
          <a:xfrm>
            <a:off x="8983980" y="2148840"/>
            <a:ext cx="2628900" cy="1691640"/>
          </a:xfrm>
          <a:prstGeom prst="roundRect">
            <a:avLst>
              <a:gd name="adj" fmla="val 3784"/>
            </a:avLst>
          </a:prstGeom>
          <a:solidFill>
            <a:srgbClr val="F7F8F5"/>
          </a:solidFill>
          <a:ln w="12700">
            <a:solidFill>
              <a:srgbClr val="E3E7DE"/>
            </a:solidFill>
            <a:prstDash val="solid"/>
          </a:ln>
          <a:effectLst>
            <a:outerShdw sx="100000" sy="100000" kx="0" ky="0" algn="bl" rotWithShape="0" blurRad="101600" dist="38100" dir="2700000">
              <a:srgbClr val="000000">
                <a:alpha val="12000"/>
              </a:srgbClr>
            </a:outerShdw>
          </a:effectLst>
        </p:spPr>
      </p:sp>
      <p:sp>
        <p:nvSpPr>
          <p:cNvPr id="34" name="Shape 27"/>
          <p:cNvSpPr/>
          <p:nvPr/>
        </p:nvSpPr>
        <p:spPr>
          <a:xfrm>
            <a:off x="9185148" y="2350008"/>
            <a:ext cx="457200" cy="457200"/>
          </a:xfrm>
          <a:prstGeom prst="ellipse">
            <a:avLst/>
          </a:prstGeom>
          <a:solidFill>
            <a:srgbClr val="5A5F55"/>
          </a:solidFill>
          <a:ln/>
        </p:spPr>
      </p:sp>
      <p:pic>
        <p:nvPicPr>
          <p:cNvPr id="35" name="Image 5" descr="preencoded.png">    </p:cNvPr>
          <p:cNvPicPr>
            <a:picLocks noChangeAspect="1"/>
          </p:cNvPicPr>
          <p:nvPr/>
        </p:nvPicPr>
        <p:blipFill>
          <a:blip r:embed="rId6"/>
          <a:stretch>
            <a:fillRect/>
          </a:stretch>
        </p:blipFill>
        <p:spPr>
          <a:xfrm>
            <a:off x="9294876" y="2459736"/>
            <a:ext cx="237744" cy="237744"/>
          </a:xfrm>
          <a:prstGeom prst="rect">
            <a:avLst/>
          </a:prstGeom>
        </p:spPr>
      </p:pic>
      <p:sp>
        <p:nvSpPr>
          <p:cNvPr id="36" name="Text 28"/>
          <p:cNvSpPr/>
          <p:nvPr/>
        </p:nvSpPr>
        <p:spPr>
          <a:xfrm>
            <a:off x="9185148" y="2926080"/>
            <a:ext cx="2263140" cy="457200"/>
          </a:xfrm>
          <a:prstGeom prst="rect">
            <a:avLst/>
          </a:prstGeom>
          <a:noFill/>
          <a:ln/>
        </p:spPr>
        <p:txBody>
          <a:bodyPr wrap="square" rtlCol="0" anchor="ctr"/>
          <a:lstStyle/>
          <a:p>
            <a:pPr indent="0" marL="0">
              <a:buNone/>
            </a:pPr>
            <a:r>
              <a:rPr lang="en-US" sz="2200" b="1" dirty="0">
                <a:solidFill>
                  <a:srgbClr val="1E2A22"/>
                </a:solidFill>
                <a:latin typeface="Cambria" pitchFamily="34" charset="0"/>
                <a:ea typeface="Cambria" pitchFamily="34" charset="-122"/>
                <a:cs typeface="Cambria" pitchFamily="34" charset="-120"/>
              </a:rPr>
              <a:t>52.62%</a:t>
            </a:r>
            <a:endParaRPr lang="en-US" sz="2200" dirty="0"/>
          </a:p>
        </p:txBody>
      </p:sp>
      <p:sp>
        <p:nvSpPr>
          <p:cNvPr id="37" name="Text 29"/>
          <p:cNvSpPr/>
          <p:nvPr/>
        </p:nvSpPr>
        <p:spPr>
          <a:xfrm>
            <a:off x="9185148" y="3383280"/>
            <a:ext cx="2263140" cy="365760"/>
          </a:xfrm>
          <a:prstGeom prst="rect">
            <a:avLst/>
          </a:prstGeom>
          <a:noFill/>
          <a:ln/>
        </p:spPr>
        <p:txBody>
          <a:bodyPr wrap="square" rtlCol="0" anchor="ctr"/>
          <a:lstStyle/>
          <a:p>
            <a:pPr indent="0" marL="0">
              <a:buNone/>
            </a:pPr>
            <a:r>
              <a:rPr lang="en-US" sz="1050" dirty="0">
                <a:solidFill>
                  <a:srgbClr val="6B7A70"/>
                </a:solidFill>
                <a:latin typeface="Calibri" pitchFamily="34" charset="0"/>
                <a:ea typeface="Calibri" pitchFamily="34" charset="-122"/>
                <a:cs typeface="Calibri" pitchFamily="34" charset="-120"/>
              </a:rPr>
              <a:t>Decline Rate</a:t>
            </a:r>
            <a:endParaRPr lang="en-US" sz="1050" dirty="0"/>
          </a:p>
        </p:txBody>
      </p:sp>
      <p:sp>
        <p:nvSpPr>
          <p:cNvPr id="38" name="Shape 30"/>
          <p:cNvSpPr/>
          <p:nvPr/>
        </p:nvSpPr>
        <p:spPr>
          <a:xfrm>
            <a:off x="6172200" y="4023360"/>
            <a:ext cx="2628900" cy="1691640"/>
          </a:xfrm>
          <a:prstGeom prst="roundRect">
            <a:avLst>
              <a:gd name="adj" fmla="val 3784"/>
            </a:avLst>
          </a:prstGeom>
          <a:solidFill>
            <a:srgbClr val="F7F8F5"/>
          </a:solidFill>
          <a:ln w="12700">
            <a:solidFill>
              <a:srgbClr val="E3E7DE"/>
            </a:solidFill>
            <a:prstDash val="solid"/>
          </a:ln>
          <a:effectLst>
            <a:outerShdw sx="100000" sy="100000" kx="0" ky="0" algn="bl" rotWithShape="0" blurRad="101600" dist="38100" dir="2700000">
              <a:srgbClr val="000000">
                <a:alpha val="12000"/>
              </a:srgbClr>
            </a:outerShdw>
          </a:effectLst>
        </p:spPr>
      </p:sp>
      <p:sp>
        <p:nvSpPr>
          <p:cNvPr id="39" name="Shape 31"/>
          <p:cNvSpPr/>
          <p:nvPr/>
        </p:nvSpPr>
        <p:spPr>
          <a:xfrm>
            <a:off x="6373368" y="4224528"/>
            <a:ext cx="457200" cy="457200"/>
          </a:xfrm>
          <a:prstGeom prst="ellipse">
            <a:avLst/>
          </a:prstGeom>
          <a:solidFill>
            <a:srgbClr val="5A5F55"/>
          </a:solidFill>
          <a:ln/>
        </p:spPr>
      </p:sp>
      <p:pic>
        <p:nvPicPr>
          <p:cNvPr id="40" name="Image 6" descr="preencoded.png">    </p:cNvPr>
          <p:cNvPicPr>
            <a:picLocks noChangeAspect="1"/>
          </p:cNvPicPr>
          <p:nvPr/>
        </p:nvPicPr>
        <p:blipFill>
          <a:blip r:embed="rId7"/>
          <a:stretch>
            <a:fillRect/>
          </a:stretch>
        </p:blipFill>
        <p:spPr>
          <a:xfrm>
            <a:off x="6483096" y="4334256"/>
            <a:ext cx="237744" cy="237744"/>
          </a:xfrm>
          <a:prstGeom prst="rect">
            <a:avLst/>
          </a:prstGeom>
        </p:spPr>
      </p:pic>
      <p:sp>
        <p:nvSpPr>
          <p:cNvPr id="41" name="Text 32"/>
          <p:cNvSpPr/>
          <p:nvPr/>
        </p:nvSpPr>
        <p:spPr>
          <a:xfrm>
            <a:off x="6373368" y="4800600"/>
            <a:ext cx="2263140" cy="457200"/>
          </a:xfrm>
          <a:prstGeom prst="rect">
            <a:avLst/>
          </a:prstGeom>
          <a:noFill/>
          <a:ln/>
        </p:spPr>
        <p:txBody>
          <a:bodyPr wrap="square" rtlCol="0" anchor="ctr"/>
          <a:lstStyle/>
          <a:p>
            <a:pPr indent="0" marL="0">
              <a:buNone/>
            </a:pPr>
            <a:r>
              <a:rPr lang="en-US" sz="2200" b="1" dirty="0">
                <a:solidFill>
                  <a:srgbClr val="1E2A22"/>
                </a:solidFill>
                <a:latin typeface="Cambria" pitchFamily="34" charset="0"/>
                <a:ea typeface="Cambria" pitchFamily="34" charset="-122"/>
                <a:cs typeface="Cambria" pitchFamily="34" charset="-120"/>
              </a:rPr>
              <a:t>$1,280</a:t>
            </a:r>
            <a:endParaRPr lang="en-US" sz="2200" dirty="0"/>
          </a:p>
        </p:txBody>
      </p:sp>
      <p:sp>
        <p:nvSpPr>
          <p:cNvPr id="42" name="Text 33"/>
          <p:cNvSpPr/>
          <p:nvPr/>
        </p:nvSpPr>
        <p:spPr>
          <a:xfrm>
            <a:off x="6373368" y="5257800"/>
            <a:ext cx="2263140" cy="365760"/>
          </a:xfrm>
          <a:prstGeom prst="rect">
            <a:avLst/>
          </a:prstGeom>
          <a:noFill/>
          <a:ln/>
        </p:spPr>
        <p:txBody>
          <a:bodyPr wrap="square" rtlCol="0" anchor="ctr"/>
          <a:lstStyle/>
          <a:p>
            <a:pPr indent="0" marL="0">
              <a:buNone/>
            </a:pPr>
            <a:r>
              <a:rPr lang="en-US" sz="1050" dirty="0">
                <a:solidFill>
                  <a:srgbClr val="6B7A70"/>
                </a:solidFill>
                <a:latin typeface="Calibri" pitchFamily="34" charset="0"/>
                <a:ea typeface="Calibri" pitchFamily="34" charset="-122"/>
                <a:cs typeface="Calibri" pitchFamily="34" charset="-120"/>
              </a:rPr>
              <a:t>Avg. Balance</a:t>
            </a:r>
            <a:endParaRPr lang="en-US" sz="1050" dirty="0"/>
          </a:p>
        </p:txBody>
      </p:sp>
      <p:sp>
        <p:nvSpPr>
          <p:cNvPr id="43" name="Shape 34"/>
          <p:cNvSpPr/>
          <p:nvPr/>
        </p:nvSpPr>
        <p:spPr>
          <a:xfrm>
            <a:off x="8983980" y="4023360"/>
            <a:ext cx="2628900" cy="1691640"/>
          </a:xfrm>
          <a:prstGeom prst="roundRect">
            <a:avLst>
              <a:gd name="adj" fmla="val 3784"/>
            </a:avLst>
          </a:prstGeom>
          <a:solidFill>
            <a:srgbClr val="F7F8F5"/>
          </a:solidFill>
          <a:ln w="12700">
            <a:solidFill>
              <a:srgbClr val="E3E7DE"/>
            </a:solidFill>
            <a:prstDash val="solid"/>
          </a:ln>
          <a:effectLst>
            <a:outerShdw sx="100000" sy="100000" kx="0" ky="0" algn="bl" rotWithShape="0" blurRad="101600" dist="38100" dir="2700000">
              <a:srgbClr val="000000">
                <a:alpha val="12000"/>
              </a:srgbClr>
            </a:outerShdw>
          </a:effectLst>
        </p:spPr>
      </p:sp>
      <p:sp>
        <p:nvSpPr>
          <p:cNvPr id="44" name="Shape 35"/>
          <p:cNvSpPr/>
          <p:nvPr/>
        </p:nvSpPr>
        <p:spPr>
          <a:xfrm>
            <a:off x="9185148" y="4224528"/>
            <a:ext cx="457200" cy="457200"/>
          </a:xfrm>
          <a:prstGeom prst="ellipse">
            <a:avLst/>
          </a:prstGeom>
          <a:solidFill>
            <a:srgbClr val="5A5F55"/>
          </a:solidFill>
          <a:ln/>
        </p:spPr>
      </p:sp>
      <p:pic>
        <p:nvPicPr>
          <p:cNvPr id="45" name="Image 7" descr="preencoded.png">    </p:cNvPr>
          <p:cNvPicPr>
            <a:picLocks noChangeAspect="1"/>
          </p:cNvPicPr>
          <p:nvPr/>
        </p:nvPicPr>
        <p:blipFill>
          <a:blip r:embed="rId8"/>
          <a:stretch>
            <a:fillRect/>
          </a:stretch>
        </p:blipFill>
        <p:spPr>
          <a:xfrm>
            <a:off x="9294876" y="4334256"/>
            <a:ext cx="237744" cy="237744"/>
          </a:xfrm>
          <a:prstGeom prst="rect">
            <a:avLst/>
          </a:prstGeom>
        </p:spPr>
      </p:pic>
      <p:sp>
        <p:nvSpPr>
          <p:cNvPr id="46" name="Text 36"/>
          <p:cNvSpPr/>
          <p:nvPr/>
        </p:nvSpPr>
        <p:spPr>
          <a:xfrm>
            <a:off x="9185148" y="4800600"/>
            <a:ext cx="2263140" cy="457200"/>
          </a:xfrm>
          <a:prstGeom prst="rect">
            <a:avLst/>
          </a:prstGeom>
          <a:noFill/>
          <a:ln/>
        </p:spPr>
        <p:txBody>
          <a:bodyPr wrap="square" rtlCol="0" anchor="ctr"/>
          <a:lstStyle/>
          <a:p>
            <a:pPr indent="0" marL="0">
              <a:buNone/>
            </a:pPr>
            <a:r>
              <a:rPr lang="en-US" sz="2200" b="1" dirty="0">
                <a:solidFill>
                  <a:srgbClr val="1E2A22"/>
                </a:solidFill>
                <a:latin typeface="Cambria" pitchFamily="34" charset="0"/>
                <a:ea typeface="Cambria" pitchFamily="34" charset="-122"/>
                <a:cs typeface="Cambria" pitchFamily="34" charset="-120"/>
              </a:rPr>
              <a:t>41</a:t>
            </a:r>
            <a:endParaRPr lang="en-US" sz="2200" dirty="0"/>
          </a:p>
        </p:txBody>
      </p:sp>
      <p:sp>
        <p:nvSpPr>
          <p:cNvPr id="47" name="Text 37"/>
          <p:cNvSpPr/>
          <p:nvPr/>
        </p:nvSpPr>
        <p:spPr>
          <a:xfrm>
            <a:off x="9185148" y="5257800"/>
            <a:ext cx="2263140" cy="365760"/>
          </a:xfrm>
          <a:prstGeom prst="rect">
            <a:avLst/>
          </a:prstGeom>
          <a:noFill/>
          <a:ln/>
        </p:spPr>
        <p:txBody>
          <a:bodyPr wrap="square" rtlCol="0" anchor="ctr"/>
          <a:lstStyle/>
          <a:p>
            <a:pPr indent="0" marL="0">
              <a:buNone/>
            </a:pPr>
            <a:r>
              <a:rPr lang="en-US" sz="1050" dirty="0">
                <a:solidFill>
                  <a:srgbClr val="6B7A70"/>
                </a:solidFill>
                <a:latin typeface="Calibri" pitchFamily="34" charset="0"/>
                <a:ea typeface="Calibri" pitchFamily="34" charset="-122"/>
                <a:cs typeface="Calibri" pitchFamily="34" charset="-120"/>
              </a:rPr>
              <a:t>Avg. Age</a:t>
            </a:r>
            <a:endParaRPr lang="en-US" sz="1050" dirty="0"/>
          </a:p>
        </p:txBody>
      </p:sp>
      <p:sp>
        <p:nvSpPr>
          <p:cNvPr id="48" name="Text 38"/>
          <p:cNvSpPr/>
          <p:nvPr/>
        </p:nvSpPr>
        <p:spPr>
          <a:xfrm>
            <a:off x="548640" y="6172200"/>
            <a:ext cx="11064240" cy="365760"/>
          </a:xfrm>
          <a:prstGeom prst="rect">
            <a:avLst/>
          </a:prstGeom>
          <a:noFill/>
          <a:ln/>
        </p:spPr>
        <p:txBody>
          <a:bodyPr wrap="square" rtlCol="0" anchor="ctr"/>
          <a:lstStyle/>
          <a:p>
            <a:pPr indent="0" marL="0">
              <a:buNone/>
            </a:pPr>
            <a:r>
              <a:rPr lang="en-US" sz="1150" i="1" dirty="0">
                <a:solidFill>
                  <a:srgbClr val="6B7A70"/>
                </a:solidFill>
                <a:latin typeface="Calibri" pitchFamily="34" charset="0"/>
                <a:ea typeface="Calibri" pitchFamily="34" charset="-122"/>
                <a:cs typeface="Calibri" pitchFamily="34" charset="-120"/>
              </a:rPr>
              <a:t>Subscribers stay on the call ~2.4x longer and carry higher average balances than non-subscribers.</a:t>
            </a:r>
            <a:endParaRPr lang="en-US" sz="1150" dirty="0"/>
          </a:p>
        </p:txBody>
      </p:sp>
      <p:sp>
        <p:nvSpPr>
          <p:cNvPr id="49" name="Text 39"/>
          <p:cNvSpPr/>
          <p:nvPr/>
        </p:nvSpPr>
        <p:spPr>
          <a:xfrm>
            <a:off x="365760" y="6473952"/>
            <a:ext cx="5486400" cy="274320"/>
          </a:xfrm>
          <a:prstGeom prst="rect">
            <a:avLst/>
          </a:prstGeom>
          <a:noFill/>
          <a:ln/>
        </p:spPr>
        <p:txBody>
          <a:bodyPr wrap="square" rtlCol="0" anchor="ctr"/>
          <a:lstStyle/>
          <a:p>
            <a:pPr indent="0" marL="0">
              <a:buNone/>
            </a:pPr>
            <a:r>
              <a:rPr lang="en-US" sz="900" dirty="0">
                <a:solidFill>
                  <a:srgbClr val="6B7A70"/>
                </a:solidFill>
                <a:latin typeface="Calibri" pitchFamily="34" charset="0"/>
                <a:ea typeface="Calibri" pitchFamily="34" charset="-122"/>
                <a:cs typeface="Calibri" pitchFamily="34" charset="-120"/>
              </a:rPr>
              <a:t>Bank Campaign Analysis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5C8A54"/>
                </a:solidFill>
                <a:latin typeface="Calibri" pitchFamily="34" charset="0"/>
                <a:ea typeface="Calibri" pitchFamily="34" charset="-122"/>
                <a:cs typeface="Calibri" pitchFamily="34" charset="-120"/>
              </a:rPr>
              <a:t>02  ·  KEY VISUALIZATIONS</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1E2A22"/>
                </a:solidFill>
                <a:latin typeface="Cambria" pitchFamily="34" charset="0"/>
                <a:ea typeface="Cambria" pitchFamily="34" charset="-122"/>
                <a:cs typeface="Cambria" pitchFamily="34" charset="-120"/>
              </a:rPr>
              <a:t>Occupation Mix: Subscribers vs Non-Subscribers</a:t>
            </a:r>
            <a:endParaRPr lang="en-US" sz="3000" dirty="0"/>
          </a:p>
        </p:txBody>
      </p:sp>
      <p:graphicFrame>
        <p:nvGraphicFramePr>
          <p:cNvPr id="4" name="Chart 0" descr=""/>
          <p:cNvGraphicFramePr/>
          <p:nvPr/>
        </p:nvGraphicFramePr>
        <p:xfrm>
          <a:off x="548640" y="1463040"/>
          <a:ext cx="7315200" cy="46634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138160" y="1463040"/>
            <a:ext cx="3520440" cy="4663440"/>
          </a:xfrm>
          <a:prstGeom prst="roundRect">
            <a:avLst>
              <a:gd name="adj" fmla="val 2078"/>
            </a:avLst>
          </a:prstGeom>
          <a:solidFill>
            <a:srgbClr val="F7F8F5"/>
          </a:solidFill>
          <a:ln w="12700">
            <a:solidFill>
              <a:srgbClr val="E3E7DE"/>
            </a:solidFill>
            <a:prstDash val="solid"/>
          </a:ln>
          <a:effectLst>
            <a:outerShdw sx="100000" sy="100000" kx="0" ky="0" algn="bl" rotWithShape="0" blurRad="101600" dist="38100" dir="2700000">
              <a:srgbClr val="000000">
                <a:alpha val="12000"/>
              </a:srgbClr>
            </a:outerShdw>
          </a:effectLst>
        </p:spPr>
      </p:sp>
      <p:sp>
        <p:nvSpPr>
          <p:cNvPr id="6" name="Shape 3"/>
          <p:cNvSpPr/>
          <p:nvPr/>
        </p:nvSpPr>
        <p:spPr>
          <a:xfrm>
            <a:off x="8366760" y="1691640"/>
            <a:ext cx="457200" cy="457200"/>
          </a:xfrm>
          <a:prstGeom prst="ellipse">
            <a:avLst/>
          </a:prstGeom>
          <a:solidFill>
            <a:srgbClr val="1F4A2C"/>
          </a:solidFill>
          <a:ln/>
        </p:spPr>
      </p:sp>
      <p:pic>
        <p:nvPicPr>
          <p:cNvPr id="7" name="Image 0" descr="preencoded.png">    </p:cNvPr>
          <p:cNvPicPr>
            <a:picLocks noChangeAspect="1"/>
          </p:cNvPicPr>
          <p:nvPr/>
        </p:nvPicPr>
        <p:blipFill>
          <a:blip r:embed="rId2"/>
          <a:stretch>
            <a:fillRect/>
          </a:stretch>
        </p:blipFill>
        <p:spPr>
          <a:xfrm>
            <a:off x="8476488" y="1801368"/>
            <a:ext cx="237744" cy="237744"/>
          </a:xfrm>
          <a:prstGeom prst="rect">
            <a:avLst/>
          </a:prstGeom>
        </p:spPr>
      </p:pic>
      <p:sp>
        <p:nvSpPr>
          <p:cNvPr id="8" name="Text 4"/>
          <p:cNvSpPr/>
          <p:nvPr/>
        </p:nvSpPr>
        <p:spPr>
          <a:xfrm>
            <a:off x="8366760" y="2286000"/>
            <a:ext cx="3108960" cy="365760"/>
          </a:xfrm>
          <a:prstGeom prst="rect">
            <a:avLst/>
          </a:prstGeom>
          <a:noFill/>
          <a:ln/>
        </p:spPr>
        <p:txBody>
          <a:bodyPr wrap="square" rtlCol="0" anchor="ctr"/>
          <a:lstStyle/>
          <a:p>
            <a:pPr indent="0" marL="0">
              <a:buNone/>
            </a:pPr>
            <a:r>
              <a:rPr lang="en-US" sz="1400" b="1" dirty="0">
                <a:solidFill>
                  <a:srgbClr val="1E2A22"/>
                </a:solidFill>
                <a:latin typeface="Cambria" pitchFamily="34" charset="0"/>
                <a:ea typeface="Cambria" pitchFamily="34" charset="-122"/>
                <a:cs typeface="Cambria" pitchFamily="34" charset="-120"/>
              </a:rPr>
              <a:t>What stands out</a:t>
            </a:r>
            <a:endParaRPr lang="en-US" sz="1400" dirty="0"/>
          </a:p>
        </p:txBody>
      </p:sp>
      <p:sp>
        <p:nvSpPr>
          <p:cNvPr id="9" name="Text 5"/>
          <p:cNvSpPr/>
          <p:nvPr/>
        </p:nvSpPr>
        <p:spPr>
          <a:xfrm>
            <a:off x="8366760" y="2743200"/>
            <a:ext cx="3108960" cy="3200400"/>
          </a:xfrm>
          <a:prstGeom prst="rect">
            <a:avLst/>
          </a:prstGeom>
          <a:noFill/>
          <a:ln/>
        </p:spPr>
        <p:txBody>
          <a:bodyPr wrap="square" rtlCol="0" anchor="ctr"/>
          <a:lstStyle/>
          <a:p>
            <a:pPr marL="342900" indent="-342900">
              <a:lnSpc>
                <a:spcPct val="120000"/>
              </a:lnSpc>
              <a:spcAft>
                <a:spcPts val="1000"/>
              </a:spcAft>
              <a:buSzPct val="100000"/>
              <a:buChar char="•"/>
            </a:pPr>
            <a:r>
              <a:rPr lang="en-US" sz="1100" dirty="0">
                <a:solidFill>
                  <a:srgbClr val="1E2A22"/>
                </a:solidFill>
                <a:latin typeface="Calibri" pitchFamily="34" charset="0"/>
                <a:ea typeface="Calibri" pitchFamily="34" charset="-122"/>
                <a:cs typeface="Calibri" pitchFamily="34" charset="-120"/>
              </a:rPr>
              <a:t>Blue-collar workers make up 21.05% of non-subscribers vs. just 13.39% of subscribers — the largest gap of any occupation.</a:t>
            </a:r>
            <a:endParaRPr lang="en-US" sz="1100" dirty="0"/>
          </a:p>
          <a:p>
            <a:pPr marL="342900" indent="-342900">
              <a:lnSpc>
                <a:spcPct val="120000"/>
              </a:lnSpc>
              <a:spcAft>
                <a:spcPts val="1000"/>
              </a:spcAft>
              <a:buSzPct val="100000"/>
              <a:buChar char="•"/>
            </a:pPr>
            <a:r>
              <a:rPr lang="en-US" sz="1100" dirty="0">
                <a:solidFill>
                  <a:srgbClr val="1E2A22"/>
                </a:solidFill>
                <a:latin typeface="Calibri" pitchFamily="34" charset="0"/>
                <a:ea typeface="Calibri" pitchFamily="34" charset="-122"/>
                <a:cs typeface="Calibri" pitchFamily="34" charset="-120"/>
              </a:rPr>
              <a:t>Management stays the top segment in both groups, suggesting income stability supports conversion.</a:t>
            </a:r>
            <a:endParaRPr lang="en-US" sz="1100" dirty="0"/>
          </a:p>
          <a:p>
            <a:pPr marL="342900" indent="-342900">
              <a:lnSpc>
                <a:spcPct val="120000"/>
              </a:lnSpc>
              <a:buSzPct val="100000"/>
              <a:buChar char="•"/>
            </a:pPr>
            <a:r>
              <a:rPr lang="en-US" sz="1100" dirty="0">
                <a:solidFill>
                  <a:srgbClr val="1E2A22"/>
                </a:solidFill>
                <a:latin typeface="Calibri" pitchFamily="34" charset="0"/>
                <a:ea typeface="Calibri" pitchFamily="34" charset="-122"/>
                <a:cs typeface="Calibri" pitchFamily="34" charset="-120"/>
              </a:rPr>
              <a:t>Retired clients convert at a notably higher rate (9.76% share) than they decline (4.46% share).</a:t>
            </a:r>
            <a:endParaRPr lang="en-US" sz="1100" dirty="0"/>
          </a:p>
        </p:txBody>
      </p:sp>
      <p:sp>
        <p:nvSpPr>
          <p:cNvPr id="10" name="Text 6"/>
          <p:cNvSpPr/>
          <p:nvPr/>
        </p:nvSpPr>
        <p:spPr>
          <a:xfrm>
            <a:off x="365760" y="6473952"/>
            <a:ext cx="5486400" cy="274320"/>
          </a:xfrm>
          <a:prstGeom prst="rect">
            <a:avLst/>
          </a:prstGeom>
          <a:noFill/>
          <a:ln/>
        </p:spPr>
        <p:txBody>
          <a:bodyPr wrap="square" rtlCol="0" anchor="ctr"/>
          <a:lstStyle/>
          <a:p>
            <a:pPr indent="0" marL="0">
              <a:buNone/>
            </a:pPr>
            <a:r>
              <a:rPr lang="en-US" sz="900" dirty="0">
                <a:solidFill>
                  <a:srgbClr val="6B7A70"/>
                </a:solidFill>
                <a:latin typeface="Calibri" pitchFamily="34" charset="0"/>
                <a:ea typeface="Calibri" pitchFamily="34" charset="-122"/>
                <a:cs typeface="Calibri" pitchFamily="34" charset="-120"/>
              </a:rPr>
              <a:t>Bank Campaign Analysis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5C8A54"/>
                </a:solidFill>
                <a:latin typeface="Calibri" pitchFamily="34" charset="0"/>
                <a:ea typeface="Calibri" pitchFamily="34" charset="-122"/>
                <a:cs typeface="Calibri" pitchFamily="34" charset="-120"/>
              </a:rPr>
              <a:t>02  ·  KEY VISUALIZATIONS</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1E2A22"/>
                </a:solidFill>
                <a:latin typeface="Cambria" pitchFamily="34" charset="0"/>
                <a:ea typeface="Cambria" pitchFamily="34" charset="-122"/>
                <a:cs typeface="Cambria" pitchFamily="34" charset="-120"/>
              </a:rPr>
              <a:t>Contact Channel &amp; Household Debt</a:t>
            </a:r>
            <a:endParaRPr lang="en-US" sz="3000" dirty="0"/>
          </a:p>
        </p:txBody>
      </p:sp>
      <p:graphicFrame>
        <p:nvGraphicFramePr>
          <p:cNvPr id="4" name="Chart 0" descr=""/>
          <p:cNvGraphicFramePr/>
          <p:nvPr/>
        </p:nvGraphicFramePr>
        <p:xfrm>
          <a:off x="457200" y="1417320"/>
          <a:ext cx="3566160" cy="27432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457200" y="4206240"/>
            <a:ext cx="3566160" cy="365760"/>
          </a:xfrm>
          <a:prstGeom prst="rect">
            <a:avLst/>
          </a:prstGeom>
          <a:noFill/>
          <a:ln/>
        </p:spPr>
        <p:txBody>
          <a:bodyPr wrap="square" rtlCol="0" anchor="ctr"/>
          <a:lstStyle/>
          <a:p>
            <a:pPr algn="ctr" indent="0" marL="0">
              <a:buNone/>
            </a:pPr>
            <a:r>
              <a:rPr lang="en-US" sz="1100" b="1" dirty="0">
                <a:solidFill>
                  <a:srgbClr val="1E2A22"/>
                </a:solidFill>
                <a:latin typeface="Calibri" pitchFamily="34" charset="0"/>
                <a:ea typeface="Calibri" pitchFamily="34" charset="-122"/>
                <a:cs typeface="Calibri" pitchFamily="34" charset="-120"/>
              </a:rPr>
              <a:t>Subscribers — Contact Method</a:t>
            </a:r>
            <a:endParaRPr lang="en-US" sz="1100" dirty="0"/>
          </a:p>
        </p:txBody>
      </p:sp>
      <p:graphicFrame>
        <p:nvGraphicFramePr>
          <p:cNvPr id="6" name="Chart 1" descr=""/>
          <p:cNvGraphicFramePr/>
          <p:nvPr/>
        </p:nvGraphicFramePr>
        <p:xfrm>
          <a:off x="4160520" y="1417320"/>
          <a:ext cx="3566160" cy="2743200"/>
        </p:xfrm>
        <a:graphic xmlns:a="http://schemas.openxmlformats.org/drawingml/2006/main">
          <a:graphicData uri="http://schemas.openxmlformats.org/drawingml/2006/chart">
            <c:chart xmlns:c="http://schemas.openxmlformats.org/drawingml/2006/chart" r:id="rId2"/>
          </a:graphicData>
        </a:graphic>
      </p:graphicFrame>
      <p:sp>
        <p:nvSpPr>
          <p:cNvPr id="7" name="Text 3"/>
          <p:cNvSpPr/>
          <p:nvPr/>
        </p:nvSpPr>
        <p:spPr>
          <a:xfrm>
            <a:off x="4160520" y="4206240"/>
            <a:ext cx="3566160" cy="365760"/>
          </a:xfrm>
          <a:prstGeom prst="rect">
            <a:avLst/>
          </a:prstGeom>
          <a:noFill/>
          <a:ln/>
        </p:spPr>
        <p:txBody>
          <a:bodyPr wrap="square" rtlCol="0" anchor="ctr"/>
          <a:lstStyle/>
          <a:p>
            <a:pPr algn="ctr" indent="0" marL="0">
              <a:buNone/>
            </a:pPr>
            <a:r>
              <a:rPr lang="en-US" sz="1100" b="1" dirty="0">
                <a:solidFill>
                  <a:srgbClr val="1E2A22"/>
                </a:solidFill>
                <a:latin typeface="Calibri" pitchFamily="34" charset="0"/>
                <a:ea typeface="Calibri" pitchFamily="34" charset="-122"/>
                <a:cs typeface="Calibri" pitchFamily="34" charset="-120"/>
              </a:rPr>
              <a:t>Non-Subscribers — Contact Method</a:t>
            </a:r>
            <a:endParaRPr lang="en-US" sz="1100" dirty="0"/>
          </a:p>
        </p:txBody>
      </p:sp>
      <p:sp>
        <p:nvSpPr>
          <p:cNvPr id="8" name="Shape 4"/>
          <p:cNvSpPr/>
          <p:nvPr/>
        </p:nvSpPr>
        <p:spPr>
          <a:xfrm>
            <a:off x="8138160" y="1417320"/>
            <a:ext cx="3520440" cy="4709160"/>
          </a:xfrm>
          <a:prstGeom prst="roundRect">
            <a:avLst>
              <a:gd name="adj" fmla="val 2078"/>
            </a:avLst>
          </a:prstGeom>
          <a:solidFill>
            <a:srgbClr val="1F4A2C"/>
          </a:solidFill>
          <a:ln/>
          <a:effectLst>
            <a:outerShdw sx="100000" sy="100000" kx="0" ky="0" algn="bl" rotWithShape="0" blurRad="101600" dist="38100" dir="2700000">
              <a:srgbClr val="000000">
                <a:alpha val="12000"/>
              </a:srgbClr>
            </a:outerShdw>
          </a:effectLst>
        </p:spPr>
      </p:sp>
      <p:pic>
        <p:nvPicPr>
          <p:cNvPr id="9" name="Image 0" descr="preencoded.png">    </p:cNvPr>
          <p:cNvPicPr>
            <a:picLocks noChangeAspect="1"/>
          </p:cNvPicPr>
          <p:nvPr/>
        </p:nvPicPr>
        <p:blipFill>
          <a:blip r:embed="rId3"/>
          <a:stretch>
            <a:fillRect/>
          </a:stretch>
        </p:blipFill>
        <p:spPr>
          <a:xfrm>
            <a:off x="8366760" y="1645920"/>
            <a:ext cx="329184" cy="329184"/>
          </a:xfrm>
          <a:prstGeom prst="rect">
            <a:avLst/>
          </a:prstGeom>
        </p:spPr>
      </p:pic>
      <p:sp>
        <p:nvSpPr>
          <p:cNvPr id="10" name="Text 5"/>
          <p:cNvSpPr/>
          <p:nvPr/>
        </p:nvSpPr>
        <p:spPr>
          <a:xfrm>
            <a:off x="8366760" y="2057400"/>
            <a:ext cx="3108960" cy="36576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Housing Loan Status</a:t>
            </a:r>
            <a:endParaRPr lang="en-US" sz="1400" dirty="0"/>
          </a:p>
        </p:txBody>
      </p:sp>
      <p:sp>
        <p:nvSpPr>
          <p:cNvPr id="11" name="Text 6"/>
          <p:cNvSpPr/>
          <p:nvPr/>
        </p:nvSpPr>
        <p:spPr>
          <a:xfrm>
            <a:off x="8366760" y="2560320"/>
            <a:ext cx="3108960" cy="274320"/>
          </a:xfrm>
          <a:prstGeom prst="rect">
            <a:avLst/>
          </a:prstGeom>
          <a:noFill/>
          <a:ln/>
        </p:spPr>
        <p:txBody>
          <a:bodyPr wrap="square" rtlCol="0" anchor="ctr"/>
          <a:lstStyle/>
          <a:p>
            <a:pPr indent="0" marL="0">
              <a:buNone/>
            </a:pPr>
            <a:r>
              <a:rPr lang="en-US" sz="1100" dirty="0">
                <a:solidFill>
                  <a:srgbClr val="97BC62"/>
                </a:solidFill>
                <a:latin typeface="Calibri" pitchFamily="34" charset="0"/>
                <a:ea typeface="Calibri" pitchFamily="34" charset="-122"/>
                <a:cs typeface="Calibri" pitchFamily="34" charset="-120"/>
              </a:rPr>
              <a:t>No housing loan</a:t>
            </a:r>
            <a:endParaRPr lang="en-US" sz="1100" dirty="0"/>
          </a:p>
        </p:txBody>
      </p:sp>
      <p:sp>
        <p:nvSpPr>
          <p:cNvPr id="12" name="Text 7"/>
          <p:cNvSpPr/>
          <p:nvPr/>
        </p:nvSpPr>
        <p:spPr>
          <a:xfrm>
            <a:off x="8366760" y="2816352"/>
            <a:ext cx="310896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Subscribers: 63.41%</a:t>
            </a:r>
            <a:endParaRPr lang="en-US" sz="1200" dirty="0"/>
          </a:p>
        </p:txBody>
      </p:sp>
      <p:sp>
        <p:nvSpPr>
          <p:cNvPr id="13" name="Text 8"/>
          <p:cNvSpPr/>
          <p:nvPr/>
        </p:nvSpPr>
        <p:spPr>
          <a:xfrm>
            <a:off x="8366760" y="3072384"/>
            <a:ext cx="3108960" cy="274320"/>
          </a:xfrm>
          <a:prstGeom prst="rect">
            <a:avLst/>
          </a:prstGeom>
          <a:noFill/>
          <a:ln/>
        </p:spPr>
        <p:txBody>
          <a:bodyPr wrap="square" rtlCol="0" anchor="ctr"/>
          <a:lstStyle/>
          <a:p>
            <a:pPr indent="0" marL="0">
              <a:buNone/>
            </a:pPr>
            <a:r>
              <a:rPr lang="en-US" sz="1200" b="1" dirty="0">
                <a:solidFill>
                  <a:srgbClr val="D9E4D3"/>
                </a:solidFill>
                <a:latin typeface="Calibri" pitchFamily="34" charset="0"/>
                <a:ea typeface="Calibri" pitchFamily="34" charset="-122"/>
                <a:cs typeface="Calibri" pitchFamily="34" charset="-120"/>
              </a:rPr>
              <a:t>Non-Subscribers: 43.03%</a:t>
            </a:r>
            <a:endParaRPr lang="en-US" sz="1200" dirty="0"/>
          </a:p>
        </p:txBody>
      </p:sp>
      <p:sp>
        <p:nvSpPr>
          <p:cNvPr id="14" name="Shape 9"/>
          <p:cNvSpPr/>
          <p:nvPr/>
        </p:nvSpPr>
        <p:spPr>
          <a:xfrm>
            <a:off x="8366760" y="3474720"/>
            <a:ext cx="3108960" cy="0"/>
          </a:xfrm>
          <a:prstGeom prst="line">
            <a:avLst/>
          </a:prstGeom>
          <a:noFill/>
          <a:ln w="12700">
            <a:solidFill>
              <a:srgbClr val="3E6B48"/>
            </a:solidFill>
            <a:prstDash val="solid"/>
          </a:ln>
        </p:spPr>
      </p:sp>
      <p:sp>
        <p:nvSpPr>
          <p:cNvPr id="15" name="Text 10"/>
          <p:cNvSpPr/>
          <p:nvPr/>
        </p:nvSpPr>
        <p:spPr>
          <a:xfrm>
            <a:off x="8366760" y="3611880"/>
            <a:ext cx="3108960" cy="274320"/>
          </a:xfrm>
          <a:prstGeom prst="rect">
            <a:avLst/>
          </a:prstGeom>
          <a:noFill/>
          <a:ln/>
        </p:spPr>
        <p:txBody>
          <a:bodyPr wrap="square" rtlCol="0" anchor="ctr"/>
          <a:lstStyle/>
          <a:p>
            <a:pPr indent="0" marL="0">
              <a:buNone/>
            </a:pPr>
            <a:r>
              <a:rPr lang="en-US" sz="1100" dirty="0">
                <a:solidFill>
                  <a:srgbClr val="97BC62"/>
                </a:solidFill>
                <a:latin typeface="Calibri" pitchFamily="34" charset="0"/>
                <a:ea typeface="Calibri" pitchFamily="34" charset="-122"/>
                <a:cs typeface="Calibri" pitchFamily="34" charset="-120"/>
              </a:rPr>
              <a:t>Has housing loan</a:t>
            </a:r>
            <a:endParaRPr lang="en-US" sz="1100" dirty="0"/>
          </a:p>
        </p:txBody>
      </p:sp>
      <p:sp>
        <p:nvSpPr>
          <p:cNvPr id="16" name="Text 11"/>
          <p:cNvSpPr/>
          <p:nvPr/>
        </p:nvSpPr>
        <p:spPr>
          <a:xfrm>
            <a:off x="8366760" y="3867912"/>
            <a:ext cx="310896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Subscribers: 36.59%</a:t>
            </a:r>
            <a:endParaRPr lang="en-US" sz="1200" dirty="0"/>
          </a:p>
        </p:txBody>
      </p:sp>
      <p:sp>
        <p:nvSpPr>
          <p:cNvPr id="17" name="Text 12"/>
          <p:cNvSpPr/>
          <p:nvPr/>
        </p:nvSpPr>
        <p:spPr>
          <a:xfrm>
            <a:off x="8366760" y="4123944"/>
            <a:ext cx="3108960" cy="274320"/>
          </a:xfrm>
          <a:prstGeom prst="rect">
            <a:avLst/>
          </a:prstGeom>
          <a:noFill/>
          <a:ln/>
        </p:spPr>
        <p:txBody>
          <a:bodyPr wrap="square" rtlCol="0" anchor="ctr"/>
          <a:lstStyle/>
          <a:p>
            <a:pPr indent="0" marL="0">
              <a:buNone/>
            </a:pPr>
            <a:r>
              <a:rPr lang="en-US" sz="1200" b="1" dirty="0">
                <a:solidFill>
                  <a:srgbClr val="D9E4D3"/>
                </a:solidFill>
                <a:latin typeface="Calibri" pitchFamily="34" charset="0"/>
                <a:ea typeface="Calibri" pitchFamily="34" charset="-122"/>
                <a:cs typeface="Calibri" pitchFamily="34" charset="-120"/>
              </a:rPr>
              <a:t>Non-Subscribers: 56.97%</a:t>
            </a:r>
            <a:endParaRPr lang="en-US" sz="1200" dirty="0"/>
          </a:p>
        </p:txBody>
      </p:sp>
      <p:sp>
        <p:nvSpPr>
          <p:cNvPr id="18" name="Text 13"/>
          <p:cNvSpPr/>
          <p:nvPr/>
        </p:nvSpPr>
        <p:spPr>
          <a:xfrm>
            <a:off x="8366760" y="4617720"/>
            <a:ext cx="3108960" cy="1371600"/>
          </a:xfrm>
          <a:prstGeom prst="rect">
            <a:avLst/>
          </a:prstGeom>
          <a:noFill/>
          <a:ln/>
        </p:spPr>
        <p:txBody>
          <a:bodyPr wrap="square" rtlCol="0" anchor="ctr"/>
          <a:lstStyle/>
          <a:p>
            <a:pPr indent="0" marL="0">
              <a:lnSpc>
                <a:spcPct val="120000"/>
              </a:lnSpc>
              <a:buNone/>
            </a:pPr>
            <a:r>
              <a:rPr lang="en-US" sz="1000" i="1" dirty="0">
                <a:solidFill>
                  <a:srgbClr val="CFE0C8"/>
                </a:solidFill>
                <a:latin typeface="Calibri" pitchFamily="34" charset="0"/>
                <a:ea typeface="Calibri" pitchFamily="34" charset="-122"/>
                <a:cs typeface="Calibri" pitchFamily="34" charset="-120"/>
              </a:rPr>
              <a:t>Clients without an existing housing loan are markedly more likely to subscribe — likely more disposable income to commit.</a:t>
            </a:r>
            <a:endParaRPr lang="en-US" sz="1000" dirty="0"/>
          </a:p>
        </p:txBody>
      </p:sp>
      <p:sp>
        <p:nvSpPr>
          <p:cNvPr id="19" name="Text 14"/>
          <p:cNvSpPr/>
          <p:nvPr/>
        </p:nvSpPr>
        <p:spPr>
          <a:xfrm>
            <a:off x="365760" y="6473952"/>
            <a:ext cx="5486400" cy="274320"/>
          </a:xfrm>
          <a:prstGeom prst="rect">
            <a:avLst/>
          </a:prstGeom>
          <a:noFill/>
          <a:ln/>
        </p:spPr>
        <p:txBody>
          <a:bodyPr wrap="square" rtlCol="0" anchor="ctr"/>
          <a:lstStyle/>
          <a:p>
            <a:pPr indent="0" marL="0">
              <a:buNone/>
            </a:pPr>
            <a:r>
              <a:rPr lang="en-US" sz="900" dirty="0">
                <a:solidFill>
                  <a:srgbClr val="6B7A70"/>
                </a:solidFill>
                <a:latin typeface="Calibri" pitchFamily="34" charset="0"/>
                <a:ea typeface="Calibri" pitchFamily="34" charset="-122"/>
                <a:cs typeface="Calibri" pitchFamily="34" charset="-120"/>
              </a:rPr>
              <a:t>Bank Campaign Analysis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5C8A54"/>
                </a:solidFill>
                <a:latin typeface="Calibri" pitchFamily="34" charset="0"/>
                <a:ea typeface="Calibri" pitchFamily="34" charset="-122"/>
                <a:cs typeface="Calibri" pitchFamily="34" charset="-120"/>
              </a:rPr>
              <a:t>03  ·  MAJOR FINDINGS</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1E2A22"/>
                </a:solidFill>
                <a:latin typeface="Cambria" pitchFamily="34" charset="0"/>
                <a:ea typeface="Cambria" pitchFamily="34" charset="-122"/>
                <a:cs typeface="Cambria" pitchFamily="34" charset="-120"/>
              </a:rPr>
              <a:t>What the Data Tells Us</a:t>
            </a:r>
            <a:endParaRPr lang="en-US" sz="3000" dirty="0"/>
          </a:p>
        </p:txBody>
      </p:sp>
      <p:sp>
        <p:nvSpPr>
          <p:cNvPr id="4" name="Shape 2"/>
          <p:cNvSpPr/>
          <p:nvPr/>
        </p:nvSpPr>
        <p:spPr>
          <a:xfrm>
            <a:off x="548640" y="1417320"/>
            <a:ext cx="5440680" cy="1417320"/>
          </a:xfrm>
          <a:prstGeom prst="roundRect">
            <a:avLst>
              <a:gd name="adj" fmla="val 3871"/>
            </a:avLst>
          </a:prstGeom>
          <a:solidFill>
            <a:srgbClr val="F7F8F5"/>
          </a:solidFill>
          <a:ln w="12700">
            <a:solidFill>
              <a:srgbClr val="E3E7DE"/>
            </a:solidFill>
            <a:prstDash val="solid"/>
          </a:ln>
          <a:effectLst>
            <a:outerShdw sx="100000" sy="100000" kx="0" ky="0" algn="bl" rotWithShape="0" blurRad="101600" dist="38100" dir="2700000">
              <a:srgbClr val="000000">
                <a:alpha val="12000"/>
              </a:srgbClr>
            </a:outerShdw>
          </a:effectLst>
        </p:spPr>
      </p:sp>
      <p:sp>
        <p:nvSpPr>
          <p:cNvPr id="5" name="Shape 3"/>
          <p:cNvSpPr/>
          <p:nvPr/>
        </p:nvSpPr>
        <p:spPr>
          <a:xfrm>
            <a:off x="731520" y="1600200"/>
            <a:ext cx="384048" cy="384048"/>
          </a:xfrm>
          <a:prstGeom prst="ellipse">
            <a:avLst/>
          </a:prstGeom>
          <a:solidFill>
            <a:srgbClr val="1F4A2C"/>
          </a:solidFill>
          <a:ln/>
        </p:spPr>
      </p:sp>
      <p:sp>
        <p:nvSpPr>
          <p:cNvPr id="6" name="Text 4"/>
          <p:cNvSpPr/>
          <p:nvPr/>
        </p:nvSpPr>
        <p:spPr>
          <a:xfrm>
            <a:off x="731520" y="1600200"/>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234440" y="1554480"/>
            <a:ext cx="4572000" cy="365760"/>
          </a:xfrm>
          <a:prstGeom prst="rect">
            <a:avLst/>
          </a:prstGeom>
          <a:noFill/>
          <a:ln/>
        </p:spPr>
        <p:txBody>
          <a:bodyPr wrap="square" rtlCol="0" anchor="ctr"/>
          <a:lstStyle/>
          <a:p>
            <a:pPr indent="0" marL="0">
              <a:buNone/>
            </a:pPr>
            <a:r>
              <a:rPr lang="en-US" sz="1250" b="1" dirty="0">
                <a:solidFill>
                  <a:srgbClr val="1E2A22"/>
                </a:solidFill>
                <a:latin typeface="Calibri" pitchFamily="34" charset="0"/>
                <a:ea typeface="Calibri" pitchFamily="34" charset="-122"/>
                <a:cs typeface="Calibri" pitchFamily="34" charset="-120"/>
              </a:rPr>
              <a:t>Call duration is the strongest signal</a:t>
            </a:r>
            <a:endParaRPr lang="en-US" sz="1250" dirty="0"/>
          </a:p>
        </p:txBody>
      </p:sp>
      <p:sp>
        <p:nvSpPr>
          <p:cNvPr id="8" name="Text 6"/>
          <p:cNvSpPr/>
          <p:nvPr/>
        </p:nvSpPr>
        <p:spPr>
          <a:xfrm>
            <a:off x="1234440" y="1920240"/>
            <a:ext cx="4572000" cy="822960"/>
          </a:xfrm>
          <a:prstGeom prst="rect">
            <a:avLst/>
          </a:prstGeom>
          <a:noFill/>
          <a:ln/>
        </p:spPr>
        <p:txBody>
          <a:bodyPr wrap="square" rtlCol="0" anchor="ctr"/>
          <a:lstStyle/>
          <a:p>
            <a:pPr indent="0" marL="0">
              <a:lnSpc>
                <a:spcPct val="115000"/>
              </a:lnSpc>
              <a:buNone/>
            </a:pPr>
            <a:r>
              <a:rPr lang="en-US" sz="1000" dirty="0">
                <a:solidFill>
                  <a:srgbClr val="6B7A70"/>
                </a:solidFill>
                <a:latin typeface="Calibri" pitchFamily="34" charset="0"/>
                <a:ea typeface="Calibri" pitchFamily="34" charset="-122"/>
                <a:cs typeface="Calibri" pitchFamily="34" charset="-120"/>
              </a:rPr>
              <a:t>Subscribers averaged 537 seconds per call vs. 223 for non-subscribers — a 2.4x gap. Longer, more engaged conversations track closely with conversion.</a:t>
            </a:r>
            <a:endParaRPr lang="en-US" sz="1000" dirty="0"/>
          </a:p>
        </p:txBody>
      </p:sp>
      <p:sp>
        <p:nvSpPr>
          <p:cNvPr id="9" name="Shape 7"/>
          <p:cNvSpPr/>
          <p:nvPr/>
        </p:nvSpPr>
        <p:spPr>
          <a:xfrm>
            <a:off x="6172200" y="1417320"/>
            <a:ext cx="5440680" cy="1417320"/>
          </a:xfrm>
          <a:prstGeom prst="roundRect">
            <a:avLst>
              <a:gd name="adj" fmla="val 3871"/>
            </a:avLst>
          </a:prstGeom>
          <a:solidFill>
            <a:srgbClr val="F7F8F5"/>
          </a:solidFill>
          <a:ln w="12700">
            <a:solidFill>
              <a:srgbClr val="E3E7DE"/>
            </a:solidFill>
            <a:prstDash val="solid"/>
          </a:ln>
          <a:effectLst>
            <a:outerShdw sx="100000" sy="100000" kx="0" ky="0" algn="bl" rotWithShape="0" blurRad="101600" dist="38100" dir="2700000">
              <a:srgbClr val="000000">
                <a:alpha val="12000"/>
              </a:srgbClr>
            </a:outerShdw>
          </a:effectLst>
        </p:spPr>
      </p:sp>
      <p:sp>
        <p:nvSpPr>
          <p:cNvPr id="10" name="Shape 8"/>
          <p:cNvSpPr/>
          <p:nvPr/>
        </p:nvSpPr>
        <p:spPr>
          <a:xfrm>
            <a:off x="6355080" y="1600200"/>
            <a:ext cx="384048" cy="384048"/>
          </a:xfrm>
          <a:prstGeom prst="ellipse">
            <a:avLst/>
          </a:prstGeom>
          <a:solidFill>
            <a:srgbClr val="1F4A2C"/>
          </a:solidFill>
          <a:ln/>
        </p:spPr>
      </p:sp>
      <p:sp>
        <p:nvSpPr>
          <p:cNvPr id="11" name="Text 9"/>
          <p:cNvSpPr/>
          <p:nvPr/>
        </p:nvSpPr>
        <p:spPr>
          <a:xfrm>
            <a:off x="6355080" y="1600200"/>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6858000" y="1554480"/>
            <a:ext cx="4572000" cy="365760"/>
          </a:xfrm>
          <a:prstGeom prst="rect">
            <a:avLst/>
          </a:prstGeom>
          <a:noFill/>
          <a:ln/>
        </p:spPr>
        <p:txBody>
          <a:bodyPr wrap="square" rtlCol="0" anchor="ctr"/>
          <a:lstStyle/>
          <a:p>
            <a:pPr indent="0" marL="0">
              <a:buNone/>
            </a:pPr>
            <a:r>
              <a:rPr lang="en-US" sz="1250" b="1" dirty="0">
                <a:solidFill>
                  <a:srgbClr val="1E2A22"/>
                </a:solidFill>
                <a:latin typeface="Calibri" pitchFamily="34" charset="0"/>
                <a:ea typeface="Calibri" pitchFamily="34" charset="-122"/>
                <a:cs typeface="Calibri" pitchFamily="34" charset="-120"/>
              </a:rPr>
              <a:t>Cellular outreach outperforms other channels</a:t>
            </a:r>
            <a:endParaRPr lang="en-US" sz="1250" dirty="0"/>
          </a:p>
        </p:txBody>
      </p:sp>
      <p:sp>
        <p:nvSpPr>
          <p:cNvPr id="13" name="Text 11"/>
          <p:cNvSpPr/>
          <p:nvPr/>
        </p:nvSpPr>
        <p:spPr>
          <a:xfrm>
            <a:off x="6858000" y="1920240"/>
            <a:ext cx="4572000" cy="822960"/>
          </a:xfrm>
          <a:prstGeom prst="rect">
            <a:avLst/>
          </a:prstGeom>
          <a:noFill/>
          <a:ln/>
        </p:spPr>
        <p:txBody>
          <a:bodyPr wrap="square" rtlCol="0" anchor="ctr"/>
          <a:lstStyle/>
          <a:p>
            <a:pPr indent="0" marL="0">
              <a:lnSpc>
                <a:spcPct val="115000"/>
              </a:lnSpc>
              <a:buNone/>
            </a:pPr>
            <a:r>
              <a:rPr lang="en-US" sz="1000" dirty="0">
                <a:solidFill>
                  <a:srgbClr val="6B7A70"/>
                </a:solidFill>
                <a:latin typeface="Calibri" pitchFamily="34" charset="0"/>
                <a:ea typeface="Calibri" pitchFamily="34" charset="-122"/>
                <a:cs typeface="Calibri" pitchFamily="34" charset="-120"/>
              </a:rPr>
              <a:t>82.6% of subscribers were reached via cellular vs. 62.5% of non-subscribers, who saw 3x more 'unknown' contact records — a likely data-quality and reachability issue.</a:t>
            </a:r>
            <a:endParaRPr lang="en-US" sz="1000" dirty="0"/>
          </a:p>
        </p:txBody>
      </p:sp>
      <p:sp>
        <p:nvSpPr>
          <p:cNvPr id="14" name="Shape 12"/>
          <p:cNvSpPr/>
          <p:nvPr/>
        </p:nvSpPr>
        <p:spPr>
          <a:xfrm>
            <a:off x="548640" y="2971800"/>
            <a:ext cx="5440680" cy="1417320"/>
          </a:xfrm>
          <a:prstGeom prst="roundRect">
            <a:avLst>
              <a:gd name="adj" fmla="val 3871"/>
            </a:avLst>
          </a:prstGeom>
          <a:solidFill>
            <a:srgbClr val="F7F8F5"/>
          </a:solidFill>
          <a:ln w="12700">
            <a:solidFill>
              <a:srgbClr val="E3E7DE"/>
            </a:solidFill>
            <a:prstDash val="solid"/>
          </a:ln>
          <a:effectLst>
            <a:outerShdw sx="100000" sy="100000" kx="0" ky="0" algn="bl" rotWithShape="0" blurRad="101600" dist="38100" dir="2700000">
              <a:srgbClr val="000000">
                <a:alpha val="12000"/>
              </a:srgbClr>
            </a:outerShdw>
          </a:effectLst>
        </p:spPr>
      </p:sp>
      <p:sp>
        <p:nvSpPr>
          <p:cNvPr id="15" name="Shape 13"/>
          <p:cNvSpPr/>
          <p:nvPr/>
        </p:nvSpPr>
        <p:spPr>
          <a:xfrm>
            <a:off x="731520" y="3154680"/>
            <a:ext cx="384048" cy="384048"/>
          </a:xfrm>
          <a:prstGeom prst="ellipse">
            <a:avLst/>
          </a:prstGeom>
          <a:solidFill>
            <a:srgbClr val="1F4A2C"/>
          </a:solidFill>
          <a:ln/>
        </p:spPr>
      </p:sp>
      <p:sp>
        <p:nvSpPr>
          <p:cNvPr id="16" name="Text 14"/>
          <p:cNvSpPr/>
          <p:nvPr/>
        </p:nvSpPr>
        <p:spPr>
          <a:xfrm>
            <a:off x="731520" y="3154680"/>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234440" y="3108960"/>
            <a:ext cx="4572000" cy="365760"/>
          </a:xfrm>
          <a:prstGeom prst="rect">
            <a:avLst/>
          </a:prstGeom>
          <a:noFill/>
          <a:ln/>
        </p:spPr>
        <p:txBody>
          <a:bodyPr wrap="square" rtlCol="0" anchor="ctr"/>
          <a:lstStyle/>
          <a:p>
            <a:pPr indent="0" marL="0">
              <a:buNone/>
            </a:pPr>
            <a:r>
              <a:rPr lang="en-US" sz="1250" b="1" dirty="0">
                <a:solidFill>
                  <a:srgbClr val="1E2A22"/>
                </a:solidFill>
                <a:latin typeface="Calibri" pitchFamily="34" charset="0"/>
                <a:ea typeface="Calibri" pitchFamily="34" charset="-122"/>
                <a:cs typeface="Calibri" pitchFamily="34" charset="-120"/>
              </a:rPr>
              <a:t>Household debt load matters</a:t>
            </a:r>
            <a:endParaRPr lang="en-US" sz="1250" dirty="0"/>
          </a:p>
        </p:txBody>
      </p:sp>
      <p:sp>
        <p:nvSpPr>
          <p:cNvPr id="18" name="Text 16"/>
          <p:cNvSpPr/>
          <p:nvPr/>
        </p:nvSpPr>
        <p:spPr>
          <a:xfrm>
            <a:off x="1234440" y="3474720"/>
            <a:ext cx="4572000" cy="822960"/>
          </a:xfrm>
          <a:prstGeom prst="rect">
            <a:avLst/>
          </a:prstGeom>
          <a:noFill/>
          <a:ln/>
        </p:spPr>
        <p:txBody>
          <a:bodyPr wrap="square" rtlCol="0" anchor="ctr"/>
          <a:lstStyle/>
          <a:p>
            <a:pPr indent="0" marL="0">
              <a:lnSpc>
                <a:spcPct val="115000"/>
              </a:lnSpc>
              <a:buNone/>
            </a:pPr>
            <a:r>
              <a:rPr lang="en-US" sz="1000" dirty="0">
                <a:solidFill>
                  <a:srgbClr val="6B7A70"/>
                </a:solidFill>
                <a:latin typeface="Calibri" pitchFamily="34" charset="0"/>
                <a:ea typeface="Calibri" pitchFamily="34" charset="-122"/>
                <a:cs typeface="Calibri" pitchFamily="34" charset="-120"/>
              </a:rPr>
              <a:t>63.4% of subscribers carry no housing loan, versus only 43.0% of non-subscribers. Existing loan obligations appear to reduce appetite for new deposits.</a:t>
            </a:r>
            <a:endParaRPr lang="en-US" sz="1000" dirty="0"/>
          </a:p>
        </p:txBody>
      </p:sp>
      <p:sp>
        <p:nvSpPr>
          <p:cNvPr id="19" name="Shape 17"/>
          <p:cNvSpPr/>
          <p:nvPr/>
        </p:nvSpPr>
        <p:spPr>
          <a:xfrm>
            <a:off x="6172200" y="2971800"/>
            <a:ext cx="5440680" cy="1417320"/>
          </a:xfrm>
          <a:prstGeom prst="roundRect">
            <a:avLst>
              <a:gd name="adj" fmla="val 3871"/>
            </a:avLst>
          </a:prstGeom>
          <a:solidFill>
            <a:srgbClr val="F7F8F5"/>
          </a:solidFill>
          <a:ln w="12700">
            <a:solidFill>
              <a:srgbClr val="E3E7DE"/>
            </a:solidFill>
            <a:prstDash val="solid"/>
          </a:ln>
          <a:effectLst>
            <a:outerShdw sx="100000" sy="100000" kx="0" ky="0" algn="bl" rotWithShape="0" blurRad="101600" dist="38100" dir="2700000">
              <a:srgbClr val="000000">
                <a:alpha val="12000"/>
              </a:srgbClr>
            </a:outerShdw>
          </a:effectLst>
        </p:spPr>
      </p:sp>
      <p:sp>
        <p:nvSpPr>
          <p:cNvPr id="20" name="Shape 18"/>
          <p:cNvSpPr/>
          <p:nvPr/>
        </p:nvSpPr>
        <p:spPr>
          <a:xfrm>
            <a:off x="6355080" y="3154680"/>
            <a:ext cx="384048" cy="384048"/>
          </a:xfrm>
          <a:prstGeom prst="ellipse">
            <a:avLst/>
          </a:prstGeom>
          <a:solidFill>
            <a:srgbClr val="1F4A2C"/>
          </a:solidFill>
          <a:ln/>
        </p:spPr>
      </p:sp>
      <p:sp>
        <p:nvSpPr>
          <p:cNvPr id="21" name="Text 19"/>
          <p:cNvSpPr/>
          <p:nvPr/>
        </p:nvSpPr>
        <p:spPr>
          <a:xfrm>
            <a:off x="6355080" y="3154680"/>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6858000" y="3108960"/>
            <a:ext cx="4572000" cy="365760"/>
          </a:xfrm>
          <a:prstGeom prst="rect">
            <a:avLst/>
          </a:prstGeom>
          <a:noFill/>
          <a:ln/>
        </p:spPr>
        <p:txBody>
          <a:bodyPr wrap="square" rtlCol="0" anchor="ctr"/>
          <a:lstStyle/>
          <a:p>
            <a:pPr indent="0" marL="0">
              <a:buNone/>
            </a:pPr>
            <a:r>
              <a:rPr lang="en-US" sz="1250" b="1" dirty="0">
                <a:solidFill>
                  <a:srgbClr val="1E2A22"/>
                </a:solidFill>
                <a:latin typeface="Calibri" pitchFamily="34" charset="0"/>
                <a:ea typeface="Calibri" pitchFamily="34" charset="-122"/>
                <a:cs typeface="Calibri" pitchFamily="34" charset="-120"/>
              </a:rPr>
              <a:t>Occupation shapes conversion likelihood</a:t>
            </a:r>
            <a:endParaRPr lang="en-US" sz="1250" dirty="0"/>
          </a:p>
        </p:txBody>
      </p:sp>
      <p:sp>
        <p:nvSpPr>
          <p:cNvPr id="23" name="Text 21"/>
          <p:cNvSpPr/>
          <p:nvPr/>
        </p:nvSpPr>
        <p:spPr>
          <a:xfrm>
            <a:off x="6858000" y="3474720"/>
            <a:ext cx="4572000" cy="822960"/>
          </a:xfrm>
          <a:prstGeom prst="rect">
            <a:avLst/>
          </a:prstGeom>
          <a:noFill/>
          <a:ln/>
        </p:spPr>
        <p:txBody>
          <a:bodyPr wrap="square" rtlCol="0" anchor="ctr"/>
          <a:lstStyle/>
          <a:p>
            <a:pPr indent="0" marL="0">
              <a:lnSpc>
                <a:spcPct val="115000"/>
              </a:lnSpc>
              <a:buNone/>
            </a:pPr>
            <a:r>
              <a:rPr lang="en-US" sz="1000" dirty="0">
                <a:solidFill>
                  <a:srgbClr val="6B7A70"/>
                </a:solidFill>
                <a:latin typeface="Calibri" pitchFamily="34" charset="0"/>
                <a:ea typeface="Calibri" pitchFamily="34" charset="-122"/>
                <a:cs typeface="Calibri" pitchFamily="34" charset="-120"/>
              </a:rPr>
              <a:t>Blue-collar clients are over-represented among non-subscribers (21.05% vs 13.39%), while management and retired segments convert disproportionately well.</a:t>
            </a:r>
            <a:endParaRPr lang="en-US" sz="1000" dirty="0"/>
          </a:p>
        </p:txBody>
      </p:sp>
      <p:sp>
        <p:nvSpPr>
          <p:cNvPr id="24" name="Shape 22"/>
          <p:cNvSpPr/>
          <p:nvPr/>
        </p:nvSpPr>
        <p:spPr>
          <a:xfrm>
            <a:off x="548640" y="4526280"/>
            <a:ext cx="5440680" cy="1417320"/>
          </a:xfrm>
          <a:prstGeom prst="roundRect">
            <a:avLst>
              <a:gd name="adj" fmla="val 3871"/>
            </a:avLst>
          </a:prstGeom>
          <a:solidFill>
            <a:srgbClr val="F7F8F5"/>
          </a:solidFill>
          <a:ln w="12700">
            <a:solidFill>
              <a:srgbClr val="E3E7DE"/>
            </a:solidFill>
            <a:prstDash val="solid"/>
          </a:ln>
          <a:effectLst>
            <a:outerShdw sx="100000" sy="100000" kx="0" ky="0" algn="bl" rotWithShape="0" blurRad="101600" dist="38100" dir="2700000">
              <a:srgbClr val="000000">
                <a:alpha val="12000"/>
              </a:srgbClr>
            </a:outerShdw>
          </a:effectLst>
        </p:spPr>
      </p:sp>
      <p:sp>
        <p:nvSpPr>
          <p:cNvPr id="25" name="Shape 23"/>
          <p:cNvSpPr/>
          <p:nvPr/>
        </p:nvSpPr>
        <p:spPr>
          <a:xfrm>
            <a:off x="731520" y="4709160"/>
            <a:ext cx="384048" cy="384048"/>
          </a:xfrm>
          <a:prstGeom prst="ellipse">
            <a:avLst/>
          </a:prstGeom>
          <a:solidFill>
            <a:srgbClr val="1F4A2C"/>
          </a:solidFill>
          <a:ln/>
        </p:spPr>
      </p:sp>
      <p:sp>
        <p:nvSpPr>
          <p:cNvPr id="26" name="Text 24"/>
          <p:cNvSpPr/>
          <p:nvPr/>
        </p:nvSpPr>
        <p:spPr>
          <a:xfrm>
            <a:off x="731520" y="4709160"/>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234440" y="4663440"/>
            <a:ext cx="4572000" cy="365760"/>
          </a:xfrm>
          <a:prstGeom prst="rect">
            <a:avLst/>
          </a:prstGeom>
          <a:noFill/>
          <a:ln/>
        </p:spPr>
        <p:txBody>
          <a:bodyPr wrap="square" rtlCol="0" anchor="ctr"/>
          <a:lstStyle/>
          <a:p>
            <a:pPr indent="0" marL="0">
              <a:buNone/>
            </a:pPr>
            <a:r>
              <a:rPr lang="en-US" sz="1250" b="1" dirty="0">
                <a:solidFill>
                  <a:srgbClr val="1E2A22"/>
                </a:solidFill>
                <a:latin typeface="Calibri" pitchFamily="34" charset="0"/>
                <a:ea typeface="Calibri" pitchFamily="34" charset="-122"/>
                <a:cs typeface="Calibri" pitchFamily="34" charset="-120"/>
              </a:rPr>
              <a:t>Prior success predicts future success</a:t>
            </a:r>
            <a:endParaRPr lang="en-US" sz="1250" dirty="0"/>
          </a:p>
        </p:txBody>
      </p:sp>
      <p:sp>
        <p:nvSpPr>
          <p:cNvPr id="28" name="Text 26"/>
          <p:cNvSpPr/>
          <p:nvPr/>
        </p:nvSpPr>
        <p:spPr>
          <a:xfrm>
            <a:off x="1234440" y="5029200"/>
            <a:ext cx="4572000" cy="822960"/>
          </a:xfrm>
          <a:prstGeom prst="rect">
            <a:avLst/>
          </a:prstGeom>
          <a:noFill/>
          <a:ln/>
        </p:spPr>
        <p:txBody>
          <a:bodyPr wrap="square" rtlCol="0" anchor="ctr"/>
          <a:lstStyle/>
          <a:p>
            <a:pPr indent="0" marL="0">
              <a:lnSpc>
                <a:spcPct val="115000"/>
              </a:lnSpc>
              <a:buNone/>
            </a:pPr>
            <a:r>
              <a:rPr lang="en-US" sz="1000" dirty="0">
                <a:solidFill>
                  <a:srgbClr val="6B7A70"/>
                </a:solidFill>
                <a:latin typeface="Calibri" pitchFamily="34" charset="0"/>
                <a:ea typeface="Calibri" pitchFamily="34" charset="-122"/>
                <a:cs typeface="Calibri" pitchFamily="34" charset="-120"/>
              </a:rPr>
              <a:t>Clients with a successful previous campaign outcome show a far higher share among subscribers than non-subscribers, who are dominated by 'unknown' and 'failure' outcomes.</a:t>
            </a:r>
            <a:endParaRPr lang="en-US" sz="1000" dirty="0"/>
          </a:p>
        </p:txBody>
      </p:sp>
      <p:sp>
        <p:nvSpPr>
          <p:cNvPr id="29" name="Shape 27"/>
          <p:cNvSpPr/>
          <p:nvPr/>
        </p:nvSpPr>
        <p:spPr>
          <a:xfrm>
            <a:off x="6172200" y="4526280"/>
            <a:ext cx="5440680" cy="1417320"/>
          </a:xfrm>
          <a:prstGeom prst="roundRect">
            <a:avLst>
              <a:gd name="adj" fmla="val 3871"/>
            </a:avLst>
          </a:prstGeom>
          <a:solidFill>
            <a:srgbClr val="F7F8F5"/>
          </a:solidFill>
          <a:ln w="12700">
            <a:solidFill>
              <a:srgbClr val="E3E7DE"/>
            </a:solidFill>
            <a:prstDash val="solid"/>
          </a:ln>
          <a:effectLst>
            <a:outerShdw sx="100000" sy="100000" kx="0" ky="0" algn="bl" rotWithShape="0" blurRad="101600" dist="38100" dir="2700000">
              <a:srgbClr val="000000">
                <a:alpha val="12000"/>
              </a:srgbClr>
            </a:outerShdw>
          </a:effectLst>
        </p:spPr>
      </p:sp>
      <p:sp>
        <p:nvSpPr>
          <p:cNvPr id="30" name="Shape 28"/>
          <p:cNvSpPr/>
          <p:nvPr/>
        </p:nvSpPr>
        <p:spPr>
          <a:xfrm>
            <a:off x="6355080" y="4709160"/>
            <a:ext cx="384048" cy="384048"/>
          </a:xfrm>
          <a:prstGeom prst="ellipse">
            <a:avLst/>
          </a:prstGeom>
          <a:solidFill>
            <a:srgbClr val="1F4A2C"/>
          </a:solidFill>
          <a:ln/>
        </p:spPr>
      </p:sp>
      <p:sp>
        <p:nvSpPr>
          <p:cNvPr id="31" name="Text 29"/>
          <p:cNvSpPr/>
          <p:nvPr/>
        </p:nvSpPr>
        <p:spPr>
          <a:xfrm>
            <a:off x="6355080" y="4709160"/>
            <a:ext cx="384048" cy="384048"/>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6858000" y="4663440"/>
            <a:ext cx="4572000" cy="365760"/>
          </a:xfrm>
          <a:prstGeom prst="rect">
            <a:avLst/>
          </a:prstGeom>
          <a:noFill/>
          <a:ln/>
        </p:spPr>
        <p:txBody>
          <a:bodyPr wrap="square" rtlCol="0" anchor="ctr"/>
          <a:lstStyle/>
          <a:p>
            <a:pPr indent="0" marL="0">
              <a:buNone/>
            </a:pPr>
            <a:r>
              <a:rPr lang="en-US" sz="1250" b="1" dirty="0">
                <a:solidFill>
                  <a:srgbClr val="1E2A22"/>
                </a:solidFill>
                <a:latin typeface="Calibri" pitchFamily="34" charset="0"/>
                <a:ea typeface="Calibri" pitchFamily="34" charset="-122"/>
                <a:cs typeface="Calibri" pitchFamily="34" charset="-120"/>
              </a:rPr>
              <a:t>May is the seasonal peak</a:t>
            </a:r>
            <a:endParaRPr lang="en-US" sz="1250" dirty="0"/>
          </a:p>
        </p:txBody>
      </p:sp>
      <p:sp>
        <p:nvSpPr>
          <p:cNvPr id="33" name="Text 31"/>
          <p:cNvSpPr/>
          <p:nvPr/>
        </p:nvSpPr>
        <p:spPr>
          <a:xfrm>
            <a:off x="6858000" y="5029200"/>
            <a:ext cx="4572000" cy="822960"/>
          </a:xfrm>
          <a:prstGeom prst="rect">
            <a:avLst/>
          </a:prstGeom>
          <a:noFill/>
          <a:ln/>
        </p:spPr>
        <p:txBody>
          <a:bodyPr wrap="square" rtlCol="0" anchor="ctr"/>
          <a:lstStyle/>
          <a:p>
            <a:pPr indent="0" marL="0">
              <a:lnSpc>
                <a:spcPct val="115000"/>
              </a:lnSpc>
              <a:buNone/>
            </a:pPr>
            <a:r>
              <a:rPr lang="en-US" sz="1000" dirty="0">
                <a:solidFill>
                  <a:srgbClr val="6B7A70"/>
                </a:solidFill>
                <a:latin typeface="Calibri" pitchFamily="34" charset="0"/>
                <a:ea typeface="Calibri" pitchFamily="34" charset="-122"/>
                <a:cs typeface="Calibri" pitchFamily="34" charset="-120"/>
              </a:rPr>
              <a:t>Both groups saw their highest contact volume in May, but non-subscribers were far more concentrated in a few months (May, Jul, Aug, Jun) — suggesting timing alone isn't enough to convert.</a:t>
            </a:r>
            <a:endParaRPr lang="en-US" sz="1000" dirty="0"/>
          </a:p>
        </p:txBody>
      </p:sp>
      <p:sp>
        <p:nvSpPr>
          <p:cNvPr id="34" name="Text 32"/>
          <p:cNvSpPr/>
          <p:nvPr/>
        </p:nvSpPr>
        <p:spPr>
          <a:xfrm>
            <a:off x="365760" y="6473952"/>
            <a:ext cx="5486400" cy="274320"/>
          </a:xfrm>
          <a:prstGeom prst="rect">
            <a:avLst/>
          </a:prstGeom>
          <a:noFill/>
          <a:ln/>
        </p:spPr>
        <p:txBody>
          <a:bodyPr wrap="square" rtlCol="0" anchor="ctr"/>
          <a:lstStyle/>
          <a:p>
            <a:pPr indent="0" marL="0">
              <a:buNone/>
            </a:pPr>
            <a:r>
              <a:rPr lang="en-US" sz="900" dirty="0">
                <a:solidFill>
                  <a:srgbClr val="6B7A70"/>
                </a:solidFill>
                <a:latin typeface="Calibri" pitchFamily="34" charset="0"/>
                <a:ea typeface="Calibri" pitchFamily="34" charset="-122"/>
                <a:cs typeface="Calibri" pitchFamily="34" charset="-120"/>
              </a:rPr>
              <a:t>Bank Campaign Analysis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4A2C"/>
        </a:solidFill>
      </p:bgPr>
    </p:bg>
    <p:spTree>
      <p:nvGrpSpPr>
        <p:cNvPr id="1" name=""/>
        <p:cNvGrpSpPr/>
        <p:nvPr/>
      </p:nvGrpSpPr>
      <p:grpSpPr>
        <a:xfrm>
          <a:off x="0" y="0"/>
          <a:ext cx="0" cy="0"/>
          <a:chOff x="0" y="0"/>
          <a:chExt cx="0" cy="0"/>
        </a:xfrm>
      </p:grpSpPr>
      <p:sp>
        <p:nvSpPr>
          <p:cNvPr id="2" name="Shape 0"/>
          <p:cNvSpPr/>
          <p:nvPr/>
        </p:nvSpPr>
        <p:spPr>
          <a:xfrm>
            <a:off x="9875520" y="4754880"/>
            <a:ext cx="3657600" cy="3657600"/>
          </a:xfrm>
          <a:prstGeom prst="ellipse">
            <a:avLst/>
          </a:prstGeom>
          <a:solidFill>
            <a:srgbClr val="5C8A54">
              <a:alpha val="18000"/>
            </a:srgbClr>
          </a:solidFill>
          <a:ln/>
        </p:spPr>
      </p:sp>
      <p:sp>
        <p:nvSpPr>
          <p:cNvPr id="3" name="Text 1"/>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97BC62"/>
                </a:solidFill>
                <a:latin typeface="Calibri" pitchFamily="34" charset="0"/>
                <a:ea typeface="Calibri" pitchFamily="34" charset="-122"/>
                <a:cs typeface="Calibri" pitchFamily="34" charset="-120"/>
              </a:rPr>
              <a:t>04  ·  RECOMMENDATIONS</a:t>
            </a:r>
            <a:endParaRPr lang="en-US" sz="1300" dirty="0"/>
          </a:p>
        </p:txBody>
      </p:sp>
      <p:sp>
        <p:nvSpPr>
          <p:cNvPr id="4" name="Text 2"/>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Where to Focus Next</a:t>
            </a:r>
            <a:endParaRPr lang="en-US" sz="3000" dirty="0"/>
          </a:p>
        </p:txBody>
      </p:sp>
      <p:sp>
        <p:nvSpPr>
          <p:cNvPr id="5" name="Shape 3"/>
          <p:cNvSpPr/>
          <p:nvPr/>
        </p:nvSpPr>
        <p:spPr>
          <a:xfrm>
            <a:off x="548640" y="1463040"/>
            <a:ext cx="5440680" cy="1463040"/>
          </a:xfrm>
          <a:prstGeom prst="roundRect">
            <a:avLst>
              <a:gd name="adj" fmla="val 4375"/>
            </a:avLst>
          </a:prstGeom>
          <a:solidFill>
            <a:srgbClr val="26593A"/>
          </a:solidFill>
          <a:ln/>
        </p:spPr>
      </p:sp>
      <p:sp>
        <p:nvSpPr>
          <p:cNvPr id="6" name="Shape 4"/>
          <p:cNvSpPr/>
          <p:nvPr/>
        </p:nvSpPr>
        <p:spPr>
          <a:xfrm>
            <a:off x="749808" y="1664208"/>
            <a:ext cx="402336" cy="402336"/>
          </a:xfrm>
          <a:prstGeom prst="ellipse">
            <a:avLst/>
          </a:prstGeom>
          <a:solidFill>
            <a:srgbClr val="97BC62"/>
          </a:solidFill>
          <a:ln/>
        </p:spPr>
      </p:sp>
      <p:pic>
        <p:nvPicPr>
          <p:cNvPr id="7" name="Image 0" descr="preencoded.png">    </p:cNvPr>
          <p:cNvPicPr>
            <a:picLocks noChangeAspect="1"/>
          </p:cNvPicPr>
          <p:nvPr/>
        </p:nvPicPr>
        <p:blipFill>
          <a:blip r:embed="rId1"/>
          <a:stretch>
            <a:fillRect/>
          </a:stretch>
        </p:blipFill>
        <p:spPr>
          <a:xfrm>
            <a:off x="841248" y="1755648"/>
            <a:ext cx="219456" cy="219456"/>
          </a:xfrm>
          <a:prstGeom prst="rect">
            <a:avLst/>
          </a:prstGeom>
        </p:spPr>
      </p:pic>
      <p:sp>
        <p:nvSpPr>
          <p:cNvPr id="8" name="Text 5"/>
          <p:cNvSpPr/>
          <p:nvPr/>
        </p:nvSpPr>
        <p:spPr>
          <a:xfrm>
            <a:off x="1280160" y="1627632"/>
            <a:ext cx="452628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Prioritize cellular outreach</a:t>
            </a:r>
            <a:endParaRPr lang="en-US" sz="1250" dirty="0"/>
          </a:p>
        </p:txBody>
      </p:sp>
      <p:sp>
        <p:nvSpPr>
          <p:cNvPr id="9" name="Text 6"/>
          <p:cNvSpPr/>
          <p:nvPr/>
        </p:nvSpPr>
        <p:spPr>
          <a:xfrm>
            <a:off x="1280160" y="1993392"/>
            <a:ext cx="4526280" cy="868680"/>
          </a:xfrm>
          <a:prstGeom prst="rect">
            <a:avLst/>
          </a:prstGeom>
          <a:noFill/>
          <a:ln/>
        </p:spPr>
        <p:txBody>
          <a:bodyPr wrap="square" rtlCol="0" anchor="ctr"/>
          <a:lstStyle/>
          <a:p>
            <a:pPr indent="0" marL="0">
              <a:lnSpc>
                <a:spcPct val="115000"/>
              </a:lnSpc>
              <a:buNone/>
            </a:pPr>
            <a:r>
              <a:rPr lang="en-US" sz="1000" dirty="0">
                <a:solidFill>
                  <a:srgbClr val="C9D9C1"/>
                </a:solidFill>
                <a:latin typeface="Calibri" pitchFamily="34" charset="0"/>
                <a:ea typeface="Calibri" pitchFamily="34" charset="-122"/>
                <a:cs typeface="Calibri" pitchFamily="34" charset="-120"/>
              </a:rPr>
              <a:t>Shift remaining telephone/unknown-channel contacts to cellular where possible; it's associated with a 20-point higher conversion share.</a:t>
            </a:r>
            <a:endParaRPr lang="en-US" sz="1000" dirty="0"/>
          </a:p>
        </p:txBody>
      </p:sp>
      <p:sp>
        <p:nvSpPr>
          <p:cNvPr id="10" name="Shape 7"/>
          <p:cNvSpPr/>
          <p:nvPr/>
        </p:nvSpPr>
        <p:spPr>
          <a:xfrm>
            <a:off x="6172200" y="1463040"/>
            <a:ext cx="5440680" cy="1463040"/>
          </a:xfrm>
          <a:prstGeom prst="roundRect">
            <a:avLst>
              <a:gd name="adj" fmla="val 4375"/>
            </a:avLst>
          </a:prstGeom>
          <a:solidFill>
            <a:srgbClr val="26593A"/>
          </a:solidFill>
          <a:ln/>
        </p:spPr>
      </p:sp>
      <p:sp>
        <p:nvSpPr>
          <p:cNvPr id="11" name="Shape 8"/>
          <p:cNvSpPr/>
          <p:nvPr/>
        </p:nvSpPr>
        <p:spPr>
          <a:xfrm>
            <a:off x="6373368" y="1664208"/>
            <a:ext cx="402336" cy="402336"/>
          </a:xfrm>
          <a:prstGeom prst="ellipse">
            <a:avLst/>
          </a:prstGeom>
          <a:solidFill>
            <a:srgbClr val="97BC62"/>
          </a:solidFill>
          <a:ln/>
        </p:spPr>
      </p:sp>
      <p:pic>
        <p:nvPicPr>
          <p:cNvPr id="12" name="Image 1" descr="preencoded.png">    </p:cNvPr>
          <p:cNvPicPr>
            <a:picLocks noChangeAspect="1"/>
          </p:cNvPicPr>
          <p:nvPr/>
        </p:nvPicPr>
        <p:blipFill>
          <a:blip r:embed="rId2"/>
          <a:stretch>
            <a:fillRect/>
          </a:stretch>
        </p:blipFill>
        <p:spPr>
          <a:xfrm>
            <a:off x="6464808" y="1755648"/>
            <a:ext cx="219456" cy="219456"/>
          </a:xfrm>
          <a:prstGeom prst="rect">
            <a:avLst/>
          </a:prstGeom>
        </p:spPr>
      </p:pic>
      <p:sp>
        <p:nvSpPr>
          <p:cNvPr id="13" name="Text 9"/>
          <p:cNvSpPr/>
          <p:nvPr/>
        </p:nvSpPr>
        <p:spPr>
          <a:xfrm>
            <a:off x="6903720" y="1627632"/>
            <a:ext cx="452628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Coach agents for longer, deeper calls</a:t>
            </a:r>
            <a:endParaRPr lang="en-US" sz="1250" dirty="0"/>
          </a:p>
        </p:txBody>
      </p:sp>
      <p:sp>
        <p:nvSpPr>
          <p:cNvPr id="14" name="Text 10"/>
          <p:cNvSpPr/>
          <p:nvPr/>
        </p:nvSpPr>
        <p:spPr>
          <a:xfrm>
            <a:off x="6903720" y="1993392"/>
            <a:ext cx="4526280" cy="868680"/>
          </a:xfrm>
          <a:prstGeom prst="rect">
            <a:avLst/>
          </a:prstGeom>
          <a:noFill/>
          <a:ln/>
        </p:spPr>
        <p:txBody>
          <a:bodyPr wrap="square" rtlCol="0" anchor="ctr"/>
          <a:lstStyle/>
          <a:p>
            <a:pPr indent="0" marL="0">
              <a:lnSpc>
                <a:spcPct val="115000"/>
              </a:lnSpc>
              <a:buNone/>
            </a:pPr>
            <a:r>
              <a:rPr lang="en-US" sz="1000" dirty="0">
                <a:solidFill>
                  <a:srgbClr val="C9D9C1"/>
                </a:solidFill>
                <a:latin typeface="Calibri" pitchFamily="34" charset="0"/>
                <a:ea typeface="Calibri" pitchFamily="34" charset="-122"/>
                <a:cs typeface="Calibri" pitchFamily="34" charset="-120"/>
              </a:rPr>
              <a:t>Build scripts and training around the ~9-minute engagement window seen in subscribers, rather than optimizing for call volume alone.</a:t>
            </a:r>
            <a:endParaRPr lang="en-US" sz="1000" dirty="0"/>
          </a:p>
        </p:txBody>
      </p:sp>
      <p:sp>
        <p:nvSpPr>
          <p:cNvPr id="15" name="Shape 11"/>
          <p:cNvSpPr/>
          <p:nvPr/>
        </p:nvSpPr>
        <p:spPr>
          <a:xfrm>
            <a:off x="548640" y="3063240"/>
            <a:ext cx="5440680" cy="1463040"/>
          </a:xfrm>
          <a:prstGeom prst="roundRect">
            <a:avLst>
              <a:gd name="adj" fmla="val 4375"/>
            </a:avLst>
          </a:prstGeom>
          <a:solidFill>
            <a:srgbClr val="26593A"/>
          </a:solidFill>
          <a:ln/>
        </p:spPr>
      </p:sp>
      <p:sp>
        <p:nvSpPr>
          <p:cNvPr id="16" name="Shape 12"/>
          <p:cNvSpPr/>
          <p:nvPr/>
        </p:nvSpPr>
        <p:spPr>
          <a:xfrm>
            <a:off x="749808" y="3264408"/>
            <a:ext cx="402336" cy="402336"/>
          </a:xfrm>
          <a:prstGeom prst="ellipse">
            <a:avLst/>
          </a:prstGeom>
          <a:solidFill>
            <a:srgbClr val="97BC62"/>
          </a:solidFill>
          <a:ln/>
        </p:spPr>
      </p:sp>
      <p:pic>
        <p:nvPicPr>
          <p:cNvPr id="17" name="Image 2" descr="preencoded.png">    </p:cNvPr>
          <p:cNvPicPr>
            <a:picLocks noChangeAspect="1"/>
          </p:cNvPicPr>
          <p:nvPr/>
        </p:nvPicPr>
        <p:blipFill>
          <a:blip r:embed="rId3"/>
          <a:stretch>
            <a:fillRect/>
          </a:stretch>
        </p:blipFill>
        <p:spPr>
          <a:xfrm>
            <a:off x="841248" y="3355848"/>
            <a:ext cx="219456" cy="219456"/>
          </a:xfrm>
          <a:prstGeom prst="rect">
            <a:avLst/>
          </a:prstGeom>
        </p:spPr>
      </p:pic>
      <p:sp>
        <p:nvSpPr>
          <p:cNvPr id="18" name="Text 13"/>
          <p:cNvSpPr/>
          <p:nvPr/>
        </p:nvSpPr>
        <p:spPr>
          <a:xfrm>
            <a:off x="1280160" y="3227832"/>
            <a:ext cx="452628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Target low-debt segments first</a:t>
            </a:r>
            <a:endParaRPr lang="en-US" sz="1250" dirty="0"/>
          </a:p>
        </p:txBody>
      </p:sp>
      <p:sp>
        <p:nvSpPr>
          <p:cNvPr id="19" name="Text 14"/>
          <p:cNvSpPr/>
          <p:nvPr/>
        </p:nvSpPr>
        <p:spPr>
          <a:xfrm>
            <a:off x="1280160" y="3593592"/>
            <a:ext cx="4526280" cy="868680"/>
          </a:xfrm>
          <a:prstGeom prst="rect">
            <a:avLst/>
          </a:prstGeom>
          <a:noFill/>
          <a:ln/>
        </p:spPr>
        <p:txBody>
          <a:bodyPr wrap="square" rtlCol="0" anchor="ctr"/>
          <a:lstStyle/>
          <a:p>
            <a:pPr indent="0" marL="0">
              <a:lnSpc>
                <a:spcPct val="115000"/>
              </a:lnSpc>
              <a:buNone/>
            </a:pPr>
            <a:r>
              <a:rPr lang="en-US" sz="1000" dirty="0">
                <a:solidFill>
                  <a:srgbClr val="C9D9C1"/>
                </a:solidFill>
                <a:latin typeface="Calibri" pitchFamily="34" charset="0"/>
                <a:ea typeface="Calibri" pitchFamily="34" charset="-122"/>
                <a:cs typeface="Calibri" pitchFamily="34" charset="-120"/>
              </a:rPr>
              <a:t>Prioritize clients without an existing housing loan, and pair loan-holders with tailored, lower-commitment offers.</a:t>
            </a:r>
            <a:endParaRPr lang="en-US" sz="1000" dirty="0"/>
          </a:p>
        </p:txBody>
      </p:sp>
      <p:sp>
        <p:nvSpPr>
          <p:cNvPr id="20" name="Shape 15"/>
          <p:cNvSpPr/>
          <p:nvPr/>
        </p:nvSpPr>
        <p:spPr>
          <a:xfrm>
            <a:off x="6172200" y="3063240"/>
            <a:ext cx="5440680" cy="1463040"/>
          </a:xfrm>
          <a:prstGeom prst="roundRect">
            <a:avLst>
              <a:gd name="adj" fmla="val 4375"/>
            </a:avLst>
          </a:prstGeom>
          <a:solidFill>
            <a:srgbClr val="26593A"/>
          </a:solidFill>
          <a:ln/>
        </p:spPr>
      </p:sp>
      <p:sp>
        <p:nvSpPr>
          <p:cNvPr id="21" name="Shape 16"/>
          <p:cNvSpPr/>
          <p:nvPr/>
        </p:nvSpPr>
        <p:spPr>
          <a:xfrm>
            <a:off x="6373368" y="3264408"/>
            <a:ext cx="402336" cy="402336"/>
          </a:xfrm>
          <a:prstGeom prst="ellipse">
            <a:avLst/>
          </a:prstGeom>
          <a:solidFill>
            <a:srgbClr val="97BC62"/>
          </a:solidFill>
          <a:ln/>
        </p:spPr>
      </p:sp>
      <p:pic>
        <p:nvPicPr>
          <p:cNvPr id="22" name="Image 3" descr="preencoded.png">    </p:cNvPr>
          <p:cNvPicPr>
            <a:picLocks noChangeAspect="1"/>
          </p:cNvPicPr>
          <p:nvPr/>
        </p:nvPicPr>
        <p:blipFill>
          <a:blip r:embed="rId4"/>
          <a:stretch>
            <a:fillRect/>
          </a:stretch>
        </p:blipFill>
        <p:spPr>
          <a:xfrm>
            <a:off x="6464808" y="3355848"/>
            <a:ext cx="219456" cy="219456"/>
          </a:xfrm>
          <a:prstGeom prst="rect">
            <a:avLst/>
          </a:prstGeom>
        </p:spPr>
      </p:pic>
      <p:sp>
        <p:nvSpPr>
          <p:cNvPr id="23" name="Text 17"/>
          <p:cNvSpPr/>
          <p:nvPr/>
        </p:nvSpPr>
        <p:spPr>
          <a:xfrm>
            <a:off x="6903720" y="3227832"/>
            <a:ext cx="452628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Re-engage prior successful clients</a:t>
            </a:r>
            <a:endParaRPr lang="en-US" sz="1250" dirty="0"/>
          </a:p>
        </p:txBody>
      </p:sp>
      <p:sp>
        <p:nvSpPr>
          <p:cNvPr id="24" name="Text 18"/>
          <p:cNvSpPr/>
          <p:nvPr/>
        </p:nvSpPr>
        <p:spPr>
          <a:xfrm>
            <a:off x="6903720" y="3593592"/>
            <a:ext cx="4526280" cy="868680"/>
          </a:xfrm>
          <a:prstGeom prst="rect">
            <a:avLst/>
          </a:prstGeom>
          <a:noFill/>
          <a:ln/>
        </p:spPr>
        <p:txBody>
          <a:bodyPr wrap="square" rtlCol="0" anchor="ctr"/>
          <a:lstStyle/>
          <a:p>
            <a:pPr indent="0" marL="0">
              <a:lnSpc>
                <a:spcPct val="115000"/>
              </a:lnSpc>
              <a:buNone/>
            </a:pPr>
            <a:r>
              <a:rPr lang="en-US" sz="1000" dirty="0">
                <a:solidFill>
                  <a:srgbClr val="C9D9C1"/>
                </a:solidFill>
                <a:latin typeface="Calibri" pitchFamily="34" charset="0"/>
                <a:ea typeface="Calibri" pitchFamily="34" charset="-122"/>
                <a:cs typeface="Calibri" pitchFamily="34" charset="-120"/>
              </a:rPr>
              <a:t>Build a dedicated re-contact list from clients with a successful previous outcome — the single strongest repeat-conversion signal.</a:t>
            </a:r>
            <a:endParaRPr lang="en-US" sz="1000" dirty="0"/>
          </a:p>
        </p:txBody>
      </p:sp>
      <p:sp>
        <p:nvSpPr>
          <p:cNvPr id="25" name="Shape 19"/>
          <p:cNvSpPr/>
          <p:nvPr/>
        </p:nvSpPr>
        <p:spPr>
          <a:xfrm>
            <a:off x="548640" y="4663440"/>
            <a:ext cx="5440680" cy="1463040"/>
          </a:xfrm>
          <a:prstGeom prst="roundRect">
            <a:avLst>
              <a:gd name="adj" fmla="val 4375"/>
            </a:avLst>
          </a:prstGeom>
          <a:solidFill>
            <a:srgbClr val="26593A"/>
          </a:solidFill>
          <a:ln/>
        </p:spPr>
      </p:sp>
      <p:sp>
        <p:nvSpPr>
          <p:cNvPr id="26" name="Shape 20"/>
          <p:cNvSpPr/>
          <p:nvPr/>
        </p:nvSpPr>
        <p:spPr>
          <a:xfrm>
            <a:off x="749808" y="4864608"/>
            <a:ext cx="402336" cy="402336"/>
          </a:xfrm>
          <a:prstGeom prst="ellipse">
            <a:avLst/>
          </a:prstGeom>
          <a:solidFill>
            <a:srgbClr val="97BC62"/>
          </a:solidFill>
          <a:ln/>
        </p:spPr>
      </p:sp>
      <p:pic>
        <p:nvPicPr>
          <p:cNvPr id="27" name="Image 4" descr="preencoded.png">    </p:cNvPr>
          <p:cNvPicPr>
            <a:picLocks noChangeAspect="1"/>
          </p:cNvPicPr>
          <p:nvPr/>
        </p:nvPicPr>
        <p:blipFill>
          <a:blip r:embed="rId5"/>
          <a:stretch>
            <a:fillRect/>
          </a:stretch>
        </p:blipFill>
        <p:spPr>
          <a:xfrm>
            <a:off x="841248" y="4956048"/>
            <a:ext cx="219456" cy="219456"/>
          </a:xfrm>
          <a:prstGeom prst="rect">
            <a:avLst/>
          </a:prstGeom>
        </p:spPr>
      </p:pic>
      <p:sp>
        <p:nvSpPr>
          <p:cNvPr id="28" name="Text 21"/>
          <p:cNvSpPr/>
          <p:nvPr/>
        </p:nvSpPr>
        <p:spPr>
          <a:xfrm>
            <a:off x="1280160" y="4828032"/>
            <a:ext cx="452628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Tailor messaging by occupation</a:t>
            </a:r>
            <a:endParaRPr lang="en-US" sz="1250" dirty="0"/>
          </a:p>
        </p:txBody>
      </p:sp>
      <p:sp>
        <p:nvSpPr>
          <p:cNvPr id="29" name="Text 22"/>
          <p:cNvSpPr/>
          <p:nvPr/>
        </p:nvSpPr>
        <p:spPr>
          <a:xfrm>
            <a:off x="1280160" y="5193792"/>
            <a:ext cx="4526280" cy="868680"/>
          </a:xfrm>
          <a:prstGeom prst="rect">
            <a:avLst/>
          </a:prstGeom>
          <a:noFill/>
          <a:ln/>
        </p:spPr>
        <p:txBody>
          <a:bodyPr wrap="square" rtlCol="0" anchor="ctr"/>
          <a:lstStyle/>
          <a:p>
            <a:pPr indent="0" marL="0">
              <a:lnSpc>
                <a:spcPct val="115000"/>
              </a:lnSpc>
              <a:buNone/>
            </a:pPr>
            <a:r>
              <a:rPr lang="en-US" sz="1000" dirty="0">
                <a:solidFill>
                  <a:srgbClr val="C9D9C1"/>
                </a:solidFill>
                <a:latin typeface="Calibri" pitchFamily="34" charset="0"/>
                <a:ea typeface="Calibri" pitchFamily="34" charset="-122"/>
                <a:cs typeface="Calibri" pitchFamily="34" charset="-120"/>
              </a:rPr>
              <a:t>Lead with management, retired, and admin segments; adapt value proposition (e.g. flexibility, smaller minimums) for blue-collar clients.</a:t>
            </a:r>
            <a:endParaRPr lang="en-US" sz="1000" dirty="0"/>
          </a:p>
        </p:txBody>
      </p:sp>
      <p:sp>
        <p:nvSpPr>
          <p:cNvPr id="30" name="Shape 23"/>
          <p:cNvSpPr/>
          <p:nvPr/>
        </p:nvSpPr>
        <p:spPr>
          <a:xfrm>
            <a:off x="6172200" y="4663440"/>
            <a:ext cx="5440680" cy="1463040"/>
          </a:xfrm>
          <a:prstGeom prst="roundRect">
            <a:avLst>
              <a:gd name="adj" fmla="val 4375"/>
            </a:avLst>
          </a:prstGeom>
          <a:solidFill>
            <a:srgbClr val="26593A"/>
          </a:solidFill>
          <a:ln/>
        </p:spPr>
      </p:sp>
      <p:sp>
        <p:nvSpPr>
          <p:cNvPr id="31" name="Shape 24"/>
          <p:cNvSpPr/>
          <p:nvPr/>
        </p:nvSpPr>
        <p:spPr>
          <a:xfrm>
            <a:off x="6373368" y="4864608"/>
            <a:ext cx="402336" cy="402336"/>
          </a:xfrm>
          <a:prstGeom prst="ellipse">
            <a:avLst/>
          </a:prstGeom>
          <a:solidFill>
            <a:srgbClr val="97BC62"/>
          </a:solidFill>
          <a:ln/>
        </p:spPr>
      </p:sp>
      <p:pic>
        <p:nvPicPr>
          <p:cNvPr id="32" name="Image 5" descr="preencoded.png">    </p:cNvPr>
          <p:cNvPicPr>
            <a:picLocks noChangeAspect="1"/>
          </p:cNvPicPr>
          <p:nvPr/>
        </p:nvPicPr>
        <p:blipFill>
          <a:blip r:embed="rId6"/>
          <a:stretch>
            <a:fillRect/>
          </a:stretch>
        </p:blipFill>
        <p:spPr>
          <a:xfrm>
            <a:off x="6464808" y="4956048"/>
            <a:ext cx="219456" cy="219456"/>
          </a:xfrm>
          <a:prstGeom prst="rect">
            <a:avLst/>
          </a:prstGeom>
        </p:spPr>
      </p:pic>
      <p:sp>
        <p:nvSpPr>
          <p:cNvPr id="33" name="Text 25"/>
          <p:cNvSpPr/>
          <p:nvPr/>
        </p:nvSpPr>
        <p:spPr>
          <a:xfrm>
            <a:off x="6903720" y="4828032"/>
            <a:ext cx="4526280" cy="36576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Plan staffing around May seasonality</a:t>
            </a:r>
            <a:endParaRPr lang="en-US" sz="1250" dirty="0"/>
          </a:p>
        </p:txBody>
      </p:sp>
      <p:sp>
        <p:nvSpPr>
          <p:cNvPr id="34" name="Text 26"/>
          <p:cNvSpPr/>
          <p:nvPr/>
        </p:nvSpPr>
        <p:spPr>
          <a:xfrm>
            <a:off x="6903720" y="5193792"/>
            <a:ext cx="4526280" cy="868680"/>
          </a:xfrm>
          <a:prstGeom prst="rect">
            <a:avLst/>
          </a:prstGeom>
          <a:noFill/>
          <a:ln/>
        </p:spPr>
        <p:txBody>
          <a:bodyPr wrap="square" rtlCol="0" anchor="ctr"/>
          <a:lstStyle/>
          <a:p>
            <a:pPr indent="0" marL="0">
              <a:lnSpc>
                <a:spcPct val="115000"/>
              </a:lnSpc>
              <a:buNone/>
            </a:pPr>
            <a:r>
              <a:rPr lang="en-US" sz="1000" dirty="0">
                <a:solidFill>
                  <a:srgbClr val="C9D9C1"/>
                </a:solidFill>
                <a:latin typeface="Calibri" pitchFamily="34" charset="0"/>
                <a:ea typeface="Calibri" pitchFamily="34" charset="-122"/>
                <a:cs typeface="Calibri" pitchFamily="34" charset="-120"/>
              </a:rPr>
              <a:t>Increase call-center capacity ahead of May, the peak-volume month for both groups, to capture demand without sacrificing call quality.</a:t>
            </a:r>
            <a:endParaRPr lang="en-US" sz="1000" dirty="0"/>
          </a:p>
        </p:txBody>
      </p:sp>
      <p:sp>
        <p:nvSpPr>
          <p:cNvPr id="35" name="Text 27"/>
          <p:cNvSpPr/>
          <p:nvPr/>
        </p:nvSpPr>
        <p:spPr>
          <a:xfrm>
            <a:off x="365760" y="6473952"/>
            <a:ext cx="5486400" cy="274320"/>
          </a:xfrm>
          <a:prstGeom prst="rect">
            <a:avLst/>
          </a:prstGeom>
          <a:noFill/>
          <a:ln/>
        </p:spPr>
        <p:txBody>
          <a:bodyPr wrap="square" rtlCol="0" anchor="ctr"/>
          <a:lstStyle/>
          <a:p>
            <a:pPr indent="0" marL="0">
              <a:buNone/>
            </a:pPr>
            <a:r>
              <a:rPr lang="en-US" sz="900" dirty="0">
                <a:solidFill>
                  <a:srgbClr val="9DB596"/>
                </a:solidFill>
                <a:latin typeface="Calibri" pitchFamily="34" charset="0"/>
                <a:ea typeface="Calibri" pitchFamily="34" charset="-122"/>
                <a:cs typeface="Calibri" pitchFamily="34" charset="-120"/>
              </a:rPr>
              <a:t>Bank Campaign Analysis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5C8A54"/>
                </a:solidFill>
                <a:latin typeface="Calibri" pitchFamily="34" charset="0"/>
                <a:ea typeface="Calibri" pitchFamily="34" charset="-122"/>
                <a:cs typeface="Calibri" pitchFamily="34" charset="-120"/>
              </a:rPr>
              <a:t>05  ·  CONCLUSION</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indent="0" marL="0">
              <a:buNone/>
            </a:pPr>
            <a:r>
              <a:rPr lang="en-US" sz="3000" b="1" dirty="0">
                <a:solidFill>
                  <a:srgbClr val="1E2A22"/>
                </a:solidFill>
                <a:latin typeface="Cambria" pitchFamily="34" charset="0"/>
                <a:ea typeface="Cambria" pitchFamily="34" charset="-122"/>
                <a:cs typeface="Cambria" pitchFamily="34" charset="-120"/>
              </a:rPr>
              <a:t>Bringing It Together</a:t>
            </a:r>
            <a:endParaRPr lang="en-US" sz="3000" dirty="0"/>
          </a:p>
        </p:txBody>
      </p:sp>
      <p:sp>
        <p:nvSpPr>
          <p:cNvPr id="4" name="Text 2"/>
          <p:cNvSpPr/>
          <p:nvPr/>
        </p:nvSpPr>
        <p:spPr>
          <a:xfrm>
            <a:off x="548640" y="1463040"/>
            <a:ext cx="6766560" cy="1828800"/>
          </a:xfrm>
          <a:prstGeom prst="rect">
            <a:avLst/>
          </a:prstGeom>
          <a:noFill/>
          <a:ln/>
        </p:spPr>
        <p:txBody>
          <a:bodyPr wrap="square" rtlCol="0" anchor="ctr"/>
          <a:lstStyle/>
          <a:p>
            <a:pPr indent="0" marL="0">
              <a:lnSpc>
                <a:spcPct val="130000"/>
              </a:lnSpc>
              <a:buNone/>
            </a:pPr>
            <a:r>
              <a:rPr lang="en-US" sz="1350" dirty="0">
                <a:solidFill>
                  <a:srgbClr val="1E2A22"/>
                </a:solidFill>
                <a:latin typeface="Calibri" pitchFamily="34" charset="0"/>
                <a:ea typeface="Calibri" pitchFamily="34" charset="-122"/>
                <a:cs typeface="Calibri" pitchFamily="34" charset="-120"/>
              </a:rPr>
              <a:t>Conversion in this campaign isn't random — it's driven by a small set of observable signals: engaged, longer calls; reachability via cellular; a lighter existing debt load; and a track record of prior campaign success. Occupation and seasonality add further texture, but the core opportunity is to reach the right clients through the right channel and hold their attention once connected.</a:t>
            </a:r>
            <a:endParaRPr lang="en-US" sz="1350" dirty="0"/>
          </a:p>
        </p:txBody>
      </p:sp>
      <p:sp>
        <p:nvSpPr>
          <p:cNvPr id="5" name="Text 3"/>
          <p:cNvSpPr/>
          <p:nvPr/>
        </p:nvSpPr>
        <p:spPr>
          <a:xfrm>
            <a:off x="548640" y="3429000"/>
            <a:ext cx="6766560" cy="1005840"/>
          </a:xfrm>
          <a:prstGeom prst="rect">
            <a:avLst/>
          </a:prstGeom>
          <a:noFill/>
          <a:ln/>
        </p:spPr>
        <p:txBody>
          <a:bodyPr wrap="square" rtlCol="0" anchor="ctr"/>
          <a:lstStyle/>
          <a:p>
            <a:pPr indent="0" marL="0">
              <a:lnSpc>
                <a:spcPct val="125000"/>
              </a:lnSpc>
              <a:buNone/>
            </a:pPr>
            <a:r>
              <a:rPr lang="en-US" sz="1300" i="1" dirty="0">
                <a:solidFill>
                  <a:srgbClr val="5C8A54"/>
                </a:solidFill>
                <a:latin typeface="Calibri" pitchFamily="34" charset="0"/>
                <a:ea typeface="Calibri" pitchFamily="34" charset="-122"/>
                <a:cs typeface="Calibri" pitchFamily="34" charset="-120"/>
              </a:rPr>
              <a:t>Focusing effort on these four levers — channel, duration, debt profile, and prior outcomes — offers the clearest path to lifting the conversion rate above its current 47.38% baseline.</a:t>
            </a:r>
            <a:endParaRPr lang="en-US" sz="1300" dirty="0"/>
          </a:p>
        </p:txBody>
      </p:sp>
      <p:sp>
        <p:nvSpPr>
          <p:cNvPr id="6" name="Shape 4"/>
          <p:cNvSpPr/>
          <p:nvPr/>
        </p:nvSpPr>
        <p:spPr>
          <a:xfrm>
            <a:off x="7680960" y="1463040"/>
            <a:ext cx="3977640" cy="4663440"/>
          </a:xfrm>
          <a:prstGeom prst="roundRect">
            <a:avLst>
              <a:gd name="adj" fmla="val 1839"/>
            </a:avLst>
          </a:prstGeom>
          <a:solidFill>
            <a:srgbClr val="1F4A2C"/>
          </a:solidFill>
          <a:ln/>
          <a:effectLst>
            <a:outerShdw sx="100000" sy="100000" kx="0" ky="0" algn="bl" rotWithShape="0" blurRad="101600" dist="38100" dir="2700000">
              <a:srgbClr val="000000">
                <a:alpha val="12000"/>
              </a:srgbClr>
            </a:outerShdw>
          </a:effectLst>
        </p:spPr>
      </p:sp>
      <p:pic>
        <p:nvPicPr>
          <p:cNvPr id="7" name="Image 0" descr="preencoded.png">    </p:cNvPr>
          <p:cNvPicPr>
            <a:picLocks noChangeAspect="1"/>
          </p:cNvPicPr>
          <p:nvPr/>
        </p:nvPicPr>
        <p:blipFill>
          <a:blip r:embed="rId1"/>
          <a:stretch>
            <a:fillRect/>
          </a:stretch>
        </p:blipFill>
        <p:spPr>
          <a:xfrm>
            <a:off x="7955280" y="1737360"/>
            <a:ext cx="365760" cy="365760"/>
          </a:xfrm>
          <a:prstGeom prst="rect">
            <a:avLst/>
          </a:prstGeom>
        </p:spPr>
      </p:pic>
      <p:sp>
        <p:nvSpPr>
          <p:cNvPr id="8" name="Text 5"/>
          <p:cNvSpPr/>
          <p:nvPr/>
        </p:nvSpPr>
        <p:spPr>
          <a:xfrm>
            <a:off x="7955280" y="2194560"/>
            <a:ext cx="338328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At a Glance</a:t>
            </a:r>
            <a:endParaRPr lang="en-US" sz="1500" dirty="0"/>
          </a:p>
        </p:txBody>
      </p:sp>
      <p:sp>
        <p:nvSpPr>
          <p:cNvPr id="9" name="Text 6"/>
          <p:cNvSpPr/>
          <p:nvPr/>
        </p:nvSpPr>
        <p:spPr>
          <a:xfrm>
            <a:off x="7955280" y="2743200"/>
            <a:ext cx="2011680" cy="365760"/>
          </a:xfrm>
          <a:prstGeom prst="rect">
            <a:avLst/>
          </a:prstGeom>
          <a:noFill/>
          <a:ln/>
        </p:spPr>
        <p:txBody>
          <a:bodyPr wrap="square" rtlCol="0" anchor="ctr"/>
          <a:lstStyle/>
          <a:p>
            <a:pPr indent="0" marL="0">
              <a:buNone/>
            </a:pPr>
            <a:r>
              <a:rPr lang="en-US" sz="1100" dirty="0">
                <a:solidFill>
                  <a:srgbClr val="B9CCB0"/>
                </a:solidFill>
                <a:latin typeface="Calibri" pitchFamily="34" charset="0"/>
                <a:ea typeface="Calibri" pitchFamily="34" charset="-122"/>
                <a:cs typeface="Calibri" pitchFamily="34" charset="-120"/>
              </a:rPr>
              <a:t>Total Contacts</a:t>
            </a:r>
            <a:endParaRPr lang="en-US" sz="1100" dirty="0"/>
          </a:p>
        </p:txBody>
      </p:sp>
      <p:sp>
        <p:nvSpPr>
          <p:cNvPr id="10" name="Text 7"/>
          <p:cNvSpPr/>
          <p:nvPr/>
        </p:nvSpPr>
        <p:spPr>
          <a:xfrm>
            <a:off x="9692640" y="2743200"/>
            <a:ext cx="1828800" cy="365760"/>
          </a:xfrm>
          <a:prstGeom prst="rect">
            <a:avLst/>
          </a:prstGeom>
          <a:noFill/>
          <a:ln/>
        </p:spPr>
        <p:txBody>
          <a:bodyPr wrap="square"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11,162</a:t>
            </a:r>
            <a:endParaRPr lang="en-US" sz="1150" dirty="0"/>
          </a:p>
        </p:txBody>
      </p:sp>
      <p:sp>
        <p:nvSpPr>
          <p:cNvPr id="11" name="Text 8"/>
          <p:cNvSpPr/>
          <p:nvPr/>
        </p:nvSpPr>
        <p:spPr>
          <a:xfrm>
            <a:off x="7955280" y="3200400"/>
            <a:ext cx="2011680" cy="365760"/>
          </a:xfrm>
          <a:prstGeom prst="rect">
            <a:avLst/>
          </a:prstGeom>
          <a:noFill/>
          <a:ln/>
        </p:spPr>
        <p:txBody>
          <a:bodyPr wrap="square" rtlCol="0" anchor="ctr"/>
          <a:lstStyle/>
          <a:p>
            <a:pPr indent="0" marL="0">
              <a:buNone/>
            </a:pPr>
            <a:r>
              <a:rPr lang="en-US" sz="1100" dirty="0">
                <a:solidFill>
                  <a:srgbClr val="B9CCB0"/>
                </a:solidFill>
                <a:latin typeface="Calibri" pitchFamily="34" charset="0"/>
                <a:ea typeface="Calibri" pitchFamily="34" charset="-122"/>
                <a:cs typeface="Calibri" pitchFamily="34" charset="-120"/>
              </a:rPr>
              <a:t>Conversion Rate</a:t>
            </a:r>
            <a:endParaRPr lang="en-US" sz="1100" dirty="0"/>
          </a:p>
        </p:txBody>
      </p:sp>
      <p:sp>
        <p:nvSpPr>
          <p:cNvPr id="12" name="Text 9"/>
          <p:cNvSpPr/>
          <p:nvPr/>
        </p:nvSpPr>
        <p:spPr>
          <a:xfrm>
            <a:off x="9692640" y="3200400"/>
            <a:ext cx="1828800" cy="365760"/>
          </a:xfrm>
          <a:prstGeom prst="rect">
            <a:avLst/>
          </a:prstGeom>
          <a:noFill/>
          <a:ln/>
        </p:spPr>
        <p:txBody>
          <a:bodyPr wrap="square"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47.38%</a:t>
            </a:r>
            <a:endParaRPr lang="en-US" sz="1150" dirty="0"/>
          </a:p>
        </p:txBody>
      </p:sp>
      <p:sp>
        <p:nvSpPr>
          <p:cNvPr id="13" name="Text 10"/>
          <p:cNvSpPr/>
          <p:nvPr/>
        </p:nvSpPr>
        <p:spPr>
          <a:xfrm>
            <a:off x="7955280" y="3657600"/>
            <a:ext cx="2011680" cy="365760"/>
          </a:xfrm>
          <a:prstGeom prst="rect">
            <a:avLst/>
          </a:prstGeom>
          <a:noFill/>
          <a:ln/>
        </p:spPr>
        <p:txBody>
          <a:bodyPr wrap="square" rtlCol="0" anchor="ctr"/>
          <a:lstStyle/>
          <a:p>
            <a:pPr indent="0" marL="0">
              <a:buNone/>
            </a:pPr>
            <a:r>
              <a:rPr lang="en-US" sz="1100" dirty="0">
                <a:solidFill>
                  <a:srgbClr val="B9CCB0"/>
                </a:solidFill>
                <a:latin typeface="Calibri" pitchFamily="34" charset="0"/>
                <a:ea typeface="Calibri" pitchFamily="34" charset="-122"/>
                <a:cs typeface="Calibri" pitchFamily="34" charset="-120"/>
              </a:rPr>
              <a:t>Duration Gap</a:t>
            </a:r>
            <a:endParaRPr lang="en-US" sz="1100" dirty="0"/>
          </a:p>
        </p:txBody>
      </p:sp>
      <p:sp>
        <p:nvSpPr>
          <p:cNvPr id="14" name="Text 11"/>
          <p:cNvSpPr/>
          <p:nvPr/>
        </p:nvSpPr>
        <p:spPr>
          <a:xfrm>
            <a:off x="9692640" y="3657600"/>
            <a:ext cx="1828800" cy="365760"/>
          </a:xfrm>
          <a:prstGeom prst="rect">
            <a:avLst/>
          </a:prstGeom>
          <a:noFill/>
          <a:ln/>
        </p:spPr>
        <p:txBody>
          <a:bodyPr wrap="square"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537s vs 223s</a:t>
            </a:r>
            <a:endParaRPr lang="en-US" sz="1150" dirty="0"/>
          </a:p>
        </p:txBody>
      </p:sp>
      <p:sp>
        <p:nvSpPr>
          <p:cNvPr id="15" name="Text 12"/>
          <p:cNvSpPr/>
          <p:nvPr/>
        </p:nvSpPr>
        <p:spPr>
          <a:xfrm>
            <a:off x="7955280" y="4114800"/>
            <a:ext cx="2011680" cy="365760"/>
          </a:xfrm>
          <a:prstGeom prst="rect">
            <a:avLst/>
          </a:prstGeom>
          <a:noFill/>
          <a:ln/>
        </p:spPr>
        <p:txBody>
          <a:bodyPr wrap="square" rtlCol="0" anchor="ctr"/>
          <a:lstStyle/>
          <a:p>
            <a:pPr indent="0" marL="0">
              <a:buNone/>
            </a:pPr>
            <a:r>
              <a:rPr lang="en-US" sz="1100" dirty="0">
                <a:solidFill>
                  <a:srgbClr val="B9CCB0"/>
                </a:solidFill>
                <a:latin typeface="Calibri" pitchFamily="34" charset="0"/>
                <a:ea typeface="Calibri" pitchFamily="34" charset="-122"/>
                <a:cs typeface="Calibri" pitchFamily="34" charset="-120"/>
              </a:rPr>
              <a:t>Top Lever</a:t>
            </a:r>
            <a:endParaRPr lang="en-US" sz="1100" dirty="0"/>
          </a:p>
        </p:txBody>
      </p:sp>
      <p:sp>
        <p:nvSpPr>
          <p:cNvPr id="16" name="Text 13"/>
          <p:cNvSpPr/>
          <p:nvPr/>
        </p:nvSpPr>
        <p:spPr>
          <a:xfrm>
            <a:off x="9692640" y="4114800"/>
            <a:ext cx="1828800" cy="365760"/>
          </a:xfrm>
          <a:prstGeom prst="rect">
            <a:avLst/>
          </a:prstGeom>
          <a:noFill/>
          <a:ln/>
        </p:spPr>
        <p:txBody>
          <a:bodyPr wrap="square"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No housing loan</a:t>
            </a:r>
            <a:endParaRPr lang="en-US" sz="1150" dirty="0"/>
          </a:p>
        </p:txBody>
      </p:sp>
      <p:sp>
        <p:nvSpPr>
          <p:cNvPr id="17" name="Text 14"/>
          <p:cNvSpPr/>
          <p:nvPr/>
        </p:nvSpPr>
        <p:spPr>
          <a:xfrm>
            <a:off x="7955280" y="4572000"/>
            <a:ext cx="2011680" cy="365760"/>
          </a:xfrm>
          <a:prstGeom prst="rect">
            <a:avLst/>
          </a:prstGeom>
          <a:noFill/>
          <a:ln/>
        </p:spPr>
        <p:txBody>
          <a:bodyPr wrap="square" rtlCol="0" anchor="ctr"/>
          <a:lstStyle/>
          <a:p>
            <a:pPr indent="0" marL="0">
              <a:buNone/>
            </a:pPr>
            <a:r>
              <a:rPr lang="en-US" sz="1100" dirty="0">
                <a:solidFill>
                  <a:srgbClr val="B9CCB0"/>
                </a:solidFill>
                <a:latin typeface="Calibri" pitchFamily="34" charset="0"/>
                <a:ea typeface="Calibri" pitchFamily="34" charset="-122"/>
                <a:cs typeface="Calibri" pitchFamily="34" charset="-120"/>
              </a:rPr>
              <a:t>Peak Month</a:t>
            </a:r>
            <a:endParaRPr lang="en-US" sz="1100" dirty="0"/>
          </a:p>
        </p:txBody>
      </p:sp>
      <p:sp>
        <p:nvSpPr>
          <p:cNvPr id="18" name="Text 15"/>
          <p:cNvSpPr/>
          <p:nvPr/>
        </p:nvSpPr>
        <p:spPr>
          <a:xfrm>
            <a:off x="9692640" y="4572000"/>
            <a:ext cx="1828800" cy="365760"/>
          </a:xfrm>
          <a:prstGeom prst="rect">
            <a:avLst/>
          </a:prstGeom>
          <a:noFill/>
          <a:ln/>
        </p:spPr>
        <p:txBody>
          <a:bodyPr wrap="square"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May</a:t>
            </a:r>
            <a:endParaRPr lang="en-US" sz="1150" dirty="0"/>
          </a:p>
        </p:txBody>
      </p:sp>
      <p:sp>
        <p:nvSpPr>
          <p:cNvPr id="19" name="Text 16"/>
          <p:cNvSpPr/>
          <p:nvPr/>
        </p:nvSpPr>
        <p:spPr>
          <a:xfrm>
            <a:off x="7955280" y="5303520"/>
            <a:ext cx="3383280" cy="365760"/>
          </a:xfrm>
          <a:prstGeom prst="rect">
            <a:avLst/>
          </a:prstGeom>
          <a:noFill/>
          <a:ln/>
        </p:spPr>
        <p:txBody>
          <a:bodyPr wrap="square" rtlCol="0" anchor="ctr"/>
          <a:lstStyle/>
          <a:p>
            <a:pPr indent="0" marL="0">
              <a:buNone/>
            </a:pPr>
            <a:r>
              <a:rPr lang="en-US" sz="1300" i="1" dirty="0">
                <a:solidFill>
                  <a:srgbClr val="97BC62"/>
                </a:solidFill>
                <a:latin typeface="Calibri" pitchFamily="34" charset="0"/>
                <a:ea typeface="Calibri" pitchFamily="34" charset="-122"/>
                <a:cs typeface="Calibri" pitchFamily="34" charset="-120"/>
              </a:rPr>
              <a:t>Thank you</a:t>
            </a:r>
            <a:endParaRPr lang="en-US" sz="1300" dirty="0"/>
          </a:p>
        </p:txBody>
      </p:sp>
      <p:sp>
        <p:nvSpPr>
          <p:cNvPr id="20" name="Text 17"/>
          <p:cNvSpPr/>
          <p:nvPr/>
        </p:nvSpPr>
        <p:spPr>
          <a:xfrm>
            <a:off x="365760" y="6473952"/>
            <a:ext cx="5486400" cy="274320"/>
          </a:xfrm>
          <a:prstGeom prst="rect">
            <a:avLst/>
          </a:prstGeom>
          <a:noFill/>
          <a:ln/>
        </p:spPr>
        <p:txBody>
          <a:bodyPr wrap="square" rtlCol="0" anchor="ctr"/>
          <a:lstStyle/>
          <a:p>
            <a:pPr indent="0" marL="0">
              <a:buNone/>
            </a:pPr>
            <a:r>
              <a:rPr lang="en-US" sz="900" dirty="0">
                <a:solidFill>
                  <a:srgbClr val="6B7A70"/>
                </a:solidFill>
                <a:latin typeface="Calibri" pitchFamily="34" charset="0"/>
                <a:ea typeface="Calibri" pitchFamily="34" charset="-122"/>
                <a:cs typeface="Calibri" pitchFamily="34" charset="-120"/>
              </a:rPr>
              <a:t>Bank Campaign Analysis  |  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Campaign - Subscribers vs Non-Subscribers</dc:title>
  <dc:subject>PptxGenJS Presentation</dc:subject>
  <dc:creator>Bank Campaign Analysis</dc:creator>
  <cp:lastModifiedBy>Bank Campaign Analysis</cp:lastModifiedBy>
  <cp:revision>1</cp:revision>
  <dcterms:created xsi:type="dcterms:W3CDTF">2026-07-03T07:46:28Z</dcterms:created>
  <dcterms:modified xsi:type="dcterms:W3CDTF">2026-07-03T07:46:28Z</dcterms:modified>
</cp:coreProperties>
</file>